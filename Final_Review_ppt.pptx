
<file path=[Content_Types].xml><?xml version="1.0" encoding="utf-8"?>
<Types xmlns="http://schemas.openxmlformats.org/package/2006/content-types">
  <Default Extension="jpeg" ContentType="image/jpeg"/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media/image18.jpg" ContentType="image/jpeg"/>
  <Override PartName="/ppt/media/image19.jpg" ContentType="image/jpeg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61" r:id="rId4"/>
    <p:sldId id="258" r:id="rId5"/>
    <p:sldId id="262" r:id="rId6"/>
    <p:sldId id="259" r:id="rId7"/>
    <p:sldId id="264" r:id="rId8"/>
    <p:sldId id="263" r:id="rId9"/>
    <p:sldId id="260" r:id="rId10"/>
  </p:sldIdLst>
  <p:sldSz cx="18288000" cy="10287000"/>
  <p:notesSz cx="18288000" cy="10287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70" d="100"/>
          <a:sy n="70" d="100"/>
        </p:scale>
        <p:origin x="774" y="96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371600" y="3188970"/>
            <a:ext cx="15544800" cy="21602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0950" b="0" i="0">
                <a:solidFill>
                  <a:schemeClr val="bg1"/>
                </a:solidFill>
                <a:latin typeface="Verdana"/>
                <a:cs typeface="Verdan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2743200" y="5760720"/>
            <a:ext cx="12801600" cy="25717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2000" b="1" i="0">
                <a:solidFill>
                  <a:srgbClr val="F5F5DB"/>
                </a:solidFill>
                <a:latin typeface="Tahoma"/>
                <a:cs typeface="Tahoma"/>
              </a:defRPr>
            </a:lvl1pPr>
          </a:lstStyle>
          <a:p>
            <a:pPr marL="12700">
              <a:lnSpc>
                <a:spcPct val="100000"/>
              </a:lnSpc>
              <a:spcBef>
                <a:spcPts val="35"/>
              </a:spcBef>
            </a:pPr>
            <a:r>
              <a:rPr spc="50" dirty="0"/>
              <a:t>SILICON</a:t>
            </a:r>
            <a:r>
              <a:rPr spc="180" dirty="0"/>
              <a:t> </a:t>
            </a:r>
            <a:r>
              <a:rPr spc="105" dirty="0"/>
              <a:t>SYNDICATE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2000" b="1" i="0">
                <a:solidFill>
                  <a:srgbClr val="F5F5DB"/>
                </a:solidFill>
                <a:latin typeface="Tahoma"/>
                <a:cs typeface="Tahoma"/>
              </a:defRPr>
            </a:lvl1pPr>
          </a:lstStyle>
          <a:p>
            <a:pPr marL="12700">
              <a:lnSpc>
                <a:spcPct val="100000"/>
              </a:lnSpc>
              <a:spcBef>
                <a:spcPts val="35"/>
              </a:spcBef>
            </a:pPr>
            <a:r>
              <a:rPr dirty="0"/>
              <a:t>VLSI</a:t>
            </a:r>
            <a:r>
              <a:rPr spc="355" dirty="0"/>
              <a:t> </a:t>
            </a:r>
            <a:r>
              <a:rPr spc="114" dirty="0"/>
              <a:t>DOMAIN</a:t>
            </a:r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2000" b="1" i="0">
                <a:solidFill>
                  <a:srgbClr val="F5F5DB"/>
                </a:solidFill>
                <a:latin typeface="Tahoma"/>
                <a:cs typeface="Tahoma"/>
              </a:defRPr>
            </a:lvl1pPr>
          </a:lstStyle>
          <a:p>
            <a:pPr marL="12700">
              <a:lnSpc>
                <a:spcPct val="100000"/>
              </a:lnSpc>
              <a:spcBef>
                <a:spcPts val="35"/>
              </a:spcBef>
            </a:pPr>
            <a:r>
              <a:rPr spc="180" dirty="0"/>
              <a:t>PAGE</a:t>
            </a:r>
            <a:r>
              <a:rPr spc="190" dirty="0"/>
              <a:t> </a:t>
            </a:r>
            <a:fld id="{81D60167-4931-47E6-BA6A-407CBD079E47}" type="slidenum">
              <a:rPr spc="50" dirty="0"/>
              <a:t>‹#›</a:t>
            </a:fld>
            <a:endParaRPr spc="50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0950" b="0" i="0">
                <a:solidFill>
                  <a:schemeClr val="bg1"/>
                </a:solidFill>
                <a:latin typeface="Verdana"/>
                <a:cs typeface="Verdan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2000" b="1" i="0">
                <a:solidFill>
                  <a:srgbClr val="F5F5DB"/>
                </a:solidFill>
                <a:latin typeface="Tahoma"/>
                <a:cs typeface="Tahoma"/>
              </a:defRPr>
            </a:lvl1pPr>
          </a:lstStyle>
          <a:p>
            <a:pPr marL="12700">
              <a:lnSpc>
                <a:spcPct val="100000"/>
              </a:lnSpc>
              <a:spcBef>
                <a:spcPts val="35"/>
              </a:spcBef>
            </a:pPr>
            <a:r>
              <a:rPr spc="50" dirty="0"/>
              <a:t>SILICON</a:t>
            </a:r>
            <a:r>
              <a:rPr spc="180" dirty="0"/>
              <a:t> </a:t>
            </a:r>
            <a:r>
              <a:rPr spc="105" dirty="0"/>
              <a:t>SYNDICATE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2000" b="1" i="0">
                <a:solidFill>
                  <a:srgbClr val="F5F5DB"/>
                </a:solidFill>
                <a:latin typeface="Tahoma"/>
                <a:cs typeface="Tahoma"/>
              </a:defRPr>
            </a:lvl1pPr>
          </a:lstStyle>
          <a:p>
            <a:pPr marL="12700">
              <a:lnSpc>
                <a:spcPct val="100000"/>
              </a:lnSpc>
              <a:spcBef>
                <a:spcPts val="35"/>
              </a:spcBef>
            </a:pPr>
            <a:r>
              <a:rPr dirty="0"/>
              <a:t>VLSI</a:t>
            </a:r>
            <a:r>
              <a:rPr spc="355" dirty="0"/>
              <a:t> </a:t>
            </a:r>
            <a:r>
              <a:rPr spc="114" dirty="0"/>
              <a:t>DOMAIN</a:t>
            </a:r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2000" b="1" i="0">
                <a:solidFill>
                  <a:srgbClr val="F5F5DB"/>
                </a:solidFill>
                <a:latin typeface="Tahoma"/>
                <a:cs typeface="Tahoma"/>
              </a:defRPr>
            </a:lvl1pPr>
          </a:lstStyle>
          <a:p>
            <a:pPr marL="12700">
              <a:lnSpc>
                <a:spcPct val="100000"/>
              </a:lnSpc>
              <a:spcBef>
                <a:spcPts val="35"/>
              </a:spcBef>
            </a:pPr>
            <a:r>
              <a:rPr spc="180" dirty="0"/>
              <a:t>PAGE</a:t>
            </a:r>
            <a:r>
              <a:rPr spc="190" dirty="0"/>
              <a:t> </a:t>
            </a:r>
            <a:fld id="{81D60167-4931-47E6-BA6A-407CBD079E47}" type="slidenum">
              <a:rPr spc="50" dirty="0"/>
              <a:t>‹#›</a:t>
            </a:fld>
            <a:endParaRPr spc="5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0950" b="0" i="0">
                <a:solidFill>
                  <a:schemeClr val="bg1"/>
                </a:solidFill>
                <a:latin typeface="Verdana"/>
                <a:cs typeface="Verdan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914400" y="2366010"/>
            <a:ext cx="7955280" cy="67894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9418320" y="2366010"/>
            <a:ext cx="7955280" cy="67894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2000" b="1" i="0">
                <a:solidFill>
                  <a:srgbClr val="F5F5DB"/>
                </a:solidFill>
                <a:latin typeface="Tahoma"/>
                <a:cs typeface="Tahoma"/>
              </a:defRPr>
            </a:lvl1pPr>
          </a:lstStyle>
          <a:p>
            <a:pPr marL="12700">
              <a:lnSpc>
                <a:spcPct val="100000"/>
              </a:lnSpc>
              <a:spcBef>
                <a:spcPts val="35"/>
              </a:spcBef>
            </a:pPr>
            <a:r>
              <a:rPr spc="50" dirty="0"/>
              <a:t>SILICON</a:t>
            </a:r>
            <a:r>
              <a:rPr spc="180" dirty="0"/>
              <a:t> </a:t>
            </a:r>
            <a:r>
              <a:rPr spc="105" dirty="0"/>
              <a:t>SYNDICATE</a:t>
            </a:r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2000" b="1" i="0">
                <a:solidFill>
                  <a:srgbClr val="F5F5DB"/>
                </a:solidFill>
                <a:latin typeface="Tahoma"/>
                <a:cs typeface="Tahoma"/>
              </a:defRPr>
            </a:lvl1pPr>
          </a:lstStyle>
          <a:p>
            <a:pPr marL="12700">
              <a:lnSpc>
                <a:spcPct val="100000"/>
              </a:lnSpc>
              <a:spcBef>
                <a:spcPts val="35"/>
              </a:spcBef>
            </a:pPr>
            <a:r>
              <a:rPr dirty="0"/>
              <a:t>VLSI</a:t>
            </a:r>
            <a:r>
              <a:rPr spc="355" dirty="0"/>
              <a:t> </a:t>
            </a:r>
            <a:r>
              <a:rPr spc="114" dirty="0"/>
              <a:t>DOMAIN</a:t>
            </a:r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2000" b="1" i="0">
                <a:solidFill>
                  <a:srgbClr val="F5F5DB"/>
                </a:solidFill>
                <a:latin typeface="Tahoma"/>
                <a:cs typeface="Tahoma"/>
              </a:defRPr>
            </a:lvl1pPr>
          </a:lstStyle>
          <a:p>
            <a:pPr marL="12700">
              <a:lnSpc>
                <a:spcPct val="100000"/>
              </a:lnSpc>
              <a:spcBef>
                <a:spcPts val="35"/>
              </a:spcBef>
            </a:pPr>
            <a:r>
              <a:rPr spc="180" dirty="0"/>
              <a:t>PAGE</a:t>
            </a:r>
            <a:r>
              <a:rPr spc="190" dirty="0"/>
              <a:t> </a:t>
            </a:r>
            <a:fld id="{81D60167-4931-47E6-BA6A-407CBD079E47}" type="slidenum">
              <a:rPr spc="50" dirty="0"/>
              <a:t>‹#›</a:t>
            </a:fld>
            <a:endParaRPr spc="50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0950" b="0" i="0">
                <a:solidFill>
                  <a:schemeClr val="bg1"/>
                </a:solidFill>
                <a:latin typeface="Verdana"/>
                <a:cs typeface="Verdan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2000" b="1" i="0">
                <a:solidFill>
                  <a:srgbClr val="F5F5DB"/>
                </a:solidFill>
                <a:latin typeface="Tahoma"/>
                <a:cs typeface="Tahoma"/>
              </a:defRPr>
            </a:lvl1pPr>
          </a:lstStyle>
          <a:p>
            <a:pPr marL="12700">
              <a:lnSpc>
                <a:spcPct val="100000"/>
              </a:lnSpc>
              <a:spcBef>
                <a:spcPts val="35"/>
              </a:spcBef>
            </a:pPr>
            <a:r>
              <a:rPr spc="50" dirty="0"/>
              <a:t>SILICON</a:t>
            </a:r>
            <a:r>
              <a:rPr spc="180" dirty="0"/>
              <a:t> </a:t>
            </a:r>
            <a:r>
              <a:rPr spc="105" dirty="0"/>
              <a:t>SYNDICATE</a:t>
            </a:r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2000" b="1" i="0">
                <a:solidFill>
                  <a:srgbClr val="F5F5DB"/>
                </a:solidFill>
                <a:latin typeface="Tahoma"/>
                <a:cs typeface="Tahoma"/>
              </a:defRPr>
            </a:lvl1pPr>
          </a:lstStyle>
          <a:p>
            <a:pPr marL="12700">
              <a:lnSpc>
                <a:spcPct val="100000"/>
              </a:lnSpc>
              <a:spcBef>
                <a:spcPts val="35"/>
              </a:spcBef>
            </a:pPr>
            <a:r>
              <a:rPr dirty="0"/>
              <a:t>VLSI</a:t>
            </a:r>
            <a:r>
              <a:rPr spc="355" dirty="0"/>
              <a:t> </a:t>
            </a:r>
            <a:r>
              <a:rPr spc="114" dirty="0"/>
              <a:t>DOMAIN</a:t>
            </a:r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2000" b="1" i="0">
                <a:solidFill>
                  <a:srgbClr val="F5F5DB"/>
                </a:solidFill>
                <a:latin typeface="Tahoma"/>
                <a:cs typeface="Tahoma"/>
              </a:defRPr>
            </a:lvl1pPr>
          </a:lstStyle>
          <a:p>
            <a:pPr marL="12700">
              <a:lnSpc>
                <a:spcPct val="100000"/>
              </a:lnSpc>
              <a:spcBef>
                <a:spcPts val="35"/>
              </a:spcBef>
            </a:pPr>
            <a:r>
              <a:rPr spc="180" dirty="0"/>
              <a:t>PAGE</a:t>
            </a:r>
            <a:r>
              <a:rPr spc="190" dirty="0"/>
              <a:t> </a:t>
            </a:r>
            <a:fld id="{81D60167-4931-47E6-BA6A-407CBD079E47}" type="slidenum">
              <a:rPr spc="50" dirty="0"/>
              <a:t>‹#›</a:t>
            </a:fld>
            <a:endParaRPr spc="50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8287998" cy="10286998"/>
          </a:xfrm>
          <a:prstGeom prst="rect">
            <a:avLst/>
          </a:prstGeom>
        </p:spPr>
      </p:pic>
      <p:sp>
        <p:nvSpPr>
          <p:cNvPr id="17" name="bg object 17"/>
          <p:cNvSpPr/>
          <p:nvPr/>
        </p:nvSpPr>
        <p:spPr>
          <a:xfrm>
            <a:off x="2713" y="3260290"/>
            <a:ext cx="18285460" cy="5498465"/>
          </a:xfrm>
          <a:custGeom>
            <a:avLst/>
            <a:gdLst/>
            <a:ahLst/>
            <a:cxnLst/>
            <a:rect l="l" t="t" r="r" b="b"/>
            <a:pathLst>
              <a:path w="18285460" h="5498465">
                <a:moveTo>
                  <a:pt x="0" y="5497994"/>
                </a:moveTo>
                <a:lnTo>
                  <a:pt x="18285285" y="5497994"/>
                </a:lnTo>
                <a:lnTo>
                  <a:pt x="18285285" y="0"/>
                </a:lnTo>
                <a:lnTo>
                  <a:pt x="0" y="0"/>
                </a:lnTo>
                <a:lnTo>
                  <a:pt x="0" y="5497994"/>
                </a:lnTo>
                <a:close/>
              </a:path>
            </a:pathLst>
          </a:custGeom>
          <a:solidFill>
            <a:srgbClr val="00C3C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bg object 18"/>
          <p:cNvSpPr/>
          <p:nvPr/>
        </p:nvSpPr>
        <p:spPr>
          <a:xfrm>
            <a:off x="2239887" y="8758284"/>
            <a:ext cx="16043275" cy="1524000"/>
          </a:xfrm>
          <a:custGeom>
            <a:avLst/>
            <a:gdLst/>
            <a:ahLst/>
            <a:cxnLst/>
            <a:rect l="l" t="t" r="r" b="b"/>
            <a:pathLst>
              <a:path w="16043275" h="1524000">
                <a:moveTo>
                  <a:pt x="0" y="1524000"/>
                </a:moveTo>
                <a:lnTo>
                  <a:pt x="16042962" y="1524000"/>
                </a:lnTo>
                <a:lnTo>
                  <a:pt x="16042962" y="0"/>
                </a:lnTo>
                <a:lnTo>
                  <a:pt x="0" y="0"/>
                </a:lnTo>
                <a:lnTo>
                  <a:pt x="0" y="1524000"/>
                </a:lnTo>
                <a:close/>
              </a:path>
            </a:pathLst>
          </a:custGeom>
          <a:solidFill>
            <a:srgbClr val="F6B100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9" name="bg object 19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59279" y="544429"/>
            <a:ext cx="1339786" cy="1286636"/>
          </a:xfrm>
          <a:prstGeom prst="rect">
            <a:avLst/>
          </a:prstGeom>
        </p:spPr>
      </p:pic>
      <p:sp>
        <p:nvSpPr>
          <p:cNvPr id="20" name="bg object 20"/>
          <p:cNvSpPr/>
          <p:nvPr/>
        </p:nvSpPr>
        <p:spPr>
          <a:xfrm>
            <a:off x="2058295" y="634450"/>
            <a:ext cx="19050" cy="1179195"/>
          </a:xfrm>
          <a:custGeom>
            <a:avLst/>
            <a:gdLst/>
            <a:ahLst/>
            <a:cxnLst/>
            <a:rect l="l" t="t" r="r" b="b"/>
            <a:pathLst>
              <a:path w="19050" h="1179195">
                <a:moveTo>
                  <a:pt x="14763" y="1178623"/>
                </a:moveTo>
                <a:lnTo>
                  <a:pt x="4286" y="1178623"/>
                </a:lnTo>
                <a:lnTo>
                  <a:pt x="0" y="1174337"/>
                </a:lnTo>
                <a:lnTo>
                  <a:pt x="0" y="4286"/>
                </a:lnTo>
                <a:lnTo>
                  <a:pt x="4286" y="0"/>
                </a:lnTo>
                <a:lnTo>
                  <a:pt x="14763" y="0"/>
                </a:lnTo>
                <a:lnTo>
                  <a:pt x="19050" y="4286"/>
                </a:lnTo>
                <a:lnTo>
                  <a:pt x="19050" y="1174337"/>
                </a:lnTo>
                <a:lnTo>
                  <a:pt x="14763" y="1178623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21" name="bg object 21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1279857" y="4492830"/>
            <a:ext cx="5329508" cy="4765499"/>
          </a:xfrm>
          <a:prstGeom prst="rect">
            <a:avLst/>
          </a:prstGeom>
        </p:spPr>
      </p:pic>
      <p:sp>
        <p:nvSpPr>
          <p:cNvPr id="22" name="bg object 22"/>
          <p:cNvSpPr/>
          <p:nvPr/>
        </p:nvSpPr>
        <p:spPr>
          <a:xfrm>
            <a:off x="0" y="8758284"/>
            <a:ext cx="2240280" cy="1529080"/>
          </a:xfrm>
          <a:custGeom>
            <a:avLst/>
            <a:gdLst/>
            <a:ahLst/>
            <a:cxnLst/>
            <a:rect l="l" t="t" r="r" b="b"/>
            <a:pathLst>
              <a:path w="2240280" h="1529079">
                <a:moveTo>
                  <a:pt x="0" y="0"/>
                </a:moveTo>
                <a:lnTo>
                  <a:pt x="2239887" y="0"/>
                </a:lnTo>
                <a:lnTo>
                  <a:pt x="2239887" y="1528715"/>
                </a:lnTo>
                <a:lnTo>
                  <a:pt x="0" y="1528714"/>
                </a:lnTo>
                <a:lnTo>
                  <a:pt x="0" y="0"/>
                </a:lnTo>
                <a:close/>
              </a:path>
            </a:pathLst>
          </a:custGeom>
          <a:solidFill>
            <a:srgbClr val="00C3C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2000" b="1" i="0">
                <a:solidFill>
                  <a:srgbClr val="F5F5DB"/>
                </a:solidFill>
                <a:latin typeface="Tahoma"/>
                <a:cs typeface="Tahoma"/>
              </a:defRPr>
            </a:lvl1pPr>
          </a:lstStyle>
          <a:p>
            <a:pPr marL="12700">
              <a:lnSpc>
                <a:spcPct val="100000"/>
              </a:lnSpc>
              <a:spcBef>
                <a:spcPts val="35"/>
              </a:spcBef>
            </a:pPr>
            <a:r>
              <a:rPr spc="50" dirty="0"/>
              <a:t>SILICON</a:t>
            </a:r>
            <a:r>
              <a:rPr spc="180" dirty="0"/>
              <a:t> </a:t>
            </a:r>
            <a:r>
              <a:rPr spc="105" dirty="0"/>
              <a:t>SYNDICATE</a:t>
            </a:r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2000" b="1" i="0">
                <a:solidFill>
                  <a:srgbClr val="F5F5DB"/>
                </a:solidFill>
                <a:latin typeface="Tahoma"/>
                <a:cs typeface="Tahoma"/>
              </a:defRPr>
            </a:lvl1pPr>
          </a:lstStyle>
          <a:p>
            <a:pPr marL="12700">
              <a:lnSpc>
                <a:spcPct val="100000"/>
              </a:lnSpc>
              <a:spcBef>
                <a:spcPts val="35"/>
              </a:spcBef>
            </a:pPr>
            <a:r>
              <a:rPr dirty="0"/>
              <a:t>VLSI</a:t>
            </a:r>
            <a:r>
              <a:rPr spc="355" dirty="0"/>
              <a:t> </a:t>
            </a:r>
            <a:r>
              <a:rPr spc="114" dirty="0"/>
              <a:t>DOMAIN</a:t>
            </a:r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2000" b="1" i="0">
                <a:solidFill>
                  <a:srgbClr val="F5F5DB"/>
                </a:solidFill>
                <a:latin typeface="Tahoma"/>
                <a:cs typeface="Tahoma"/>
              </a:defRPr>
            </a:lvl1pPr>
          </a:lstStyle>
          <a:p>
            <a:pPr marL="12700">
              <a:lnSpc>
                <a:spcPct val="100000"/>
              </a:lnSpc>
              <a:spcBef>
                <a:spcPts val="35"/>
              </a:spcBef>
            </a:pPr>
            <a:r>
              <a:rPr spc="180" dirty="0"/>
              <a:t>PAGE</a:t>
            </a:r>
            <a:r>
              <a:rPr spc="190" dirty="0"/>
              <a:t> </a:t>
            </a:r>
            <a:fld id="{81D60167-4931-47E6-BA6A-407CBD079E47}" type="slidenum">
              <a:rPr spc="50" dirty="0"/>
              <a:t>‹#›</a:t>
            </a:fld>
            <a:endParaRPr spc="5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7998" y="10286999"/>
                </a:moveTo>
                <a:lnTo>
                  <a:pt x="0" y="10286999"/>
                </a:lnTo>
                <a:lnTo>
                  <a:pt x="0" y="0"/>
                </a:lnTo>
                <a:lnTo>
                  <a:pt x="18287998" y="0"/>
                </a:lnTo>
                <a:lnTo>
                  <a:pt x="18287998" y="10286999"/>
                </a:lnTo>
                <a:close/>
              </a:path>
            </a:pathLst>
          </a:custGeom>
          <a:solidFill>
            <a:srgbClr val="001AB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g object 17"/>
          <p:cNvSpPr/>
          <p:nvPr/>
        </p:nvSpPr>
        <p:spPr>
          <a:xfrm>
            <a:off x="735" y="9444427"/>
            <a:ext cx="17411065" cy="838200"/>
          </a:xfrm>
          <a:custGeom>
            <a:avLst/>
            <a:gdLst/>
            <a:ahLst/>
            <a:cxnLst/>
            <a:rect l="l" t="t" r="r" b="b"/>
            <a:pathLst>
              <a:path w="17411065" h="838200">
                <a:moveTo>
                  <a:pt x="0" y="838199"/>
                </a:moveTo>
                <a:lnTo>
                  <a:pt x="17410963" y="838199"/>
                </a:lnTo>
                <a:lnTo>
                  <a:pt x="17410963" y="0"/>
                </a:lnTo>
                <a:lnTo>
                  <a:pt x="0" y="0"/>
                </a:lnTo>
                <a:lnTo>
                  <a:pt x="0" y="838199"/>
                </a:lnTo>
                <a:close/>
              </a:path>
            </a:pathLst>
          </a:custGeom>
          <a:solidFill>
            <a:srgbClr val="F6B1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066204" y="-76118"/>
            <a:ext cx="16664940" cy="169481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0950" b="0" i="0">
                <a:solidFill>
                  <a:schemeClr val="bg1"/>
                </a:solidFill>
                <a:latin typeface="Verdana"/>
                <a:cs typeface="Verdan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914400" y="2366010"/>
            <a:ext cx="16459200" cy="67894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1286729" y="9697018"/>
            <a:ext cx="2927985" cy="33527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000" b="1" i="0">
                <a:solidFill>
                  <a:srgbClr val="F5F5DB"/>
                </a:solidFill>
                <a:latin typeface="Tahoma"/>
                <a:cs typeface="Tahoma"/>
              </a:defRPr>
            </a:lvl1pPr>
          </a:lstStyle>
          <a:p>
            <a:pPr marL="12700">
              <a:lnSpc>
                <a:spcPct val="100000"/>
              </a:lnSpc>
              <a:spcBef>
                <a:spcPts val="35"/>
              </a:spcBef>
            </a:pPr>
            <a:r>
              <a:rPr spc="50" dirty="0"/>
              <a:t>SILICON</a:t>
            </a:r>
            <a:r>
              <a:rPr spc="180" dirty="0"/>
              <a:t> </a:t>
            </a:r>
            <a:r>
              <a:rPr spc="105" dirty="0"/>
              <a:t>SYNDICATE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8163004" y="9697018"/>
            <a:ext cx="1962150" cy="33527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000" b="1" i="0">
                <a:solidFill>
                  <a:srgbClr val="F5F5DB"/>
                </a:solidFill>
                <a:latin typeface="Tahoma"/>
                <a:cs typeface="Tahoma"/>
              </a:defRPr>
            </a:lvl1pPr>
          </a:lstStyle>
          <a:p>
            <a:pPr marL="12700">
              <a:lnSpc>
                <a:spcPct val="100000"/>
              </a:lnSpc>
              <a:spcBef>
                <a:spcPts val="35"/>
              </a:spcBef>
            </a:pPr>
            <a:r>
              <a:rPr dirty="0"/>
              <a:t>VLSI</a:t>
            </a:r>
            <a:r>
              <a:rPr spc="355" dirty="0"/>
              <a:t> </a:t>
            </a:r>
            <a:r>
              <a:rPr spc="114" dirty="0"/>
              <a:t>DOMAIN</a:t>
            </a:r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15868257" y="9678636"/>
            <a:ext cx="1120775" cy="33527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000" b="1" i="0">
                <a:solidFill>
                  <a:srgbClr val="F5F5DB"/>
                </a:solidFill>
                <a:latin typeface="Tahoma"/>
                <a:cs typeface="Tahoma"/>
              </a:defRPr>
            </a:lvl1pPr>
          </a:lstStyle>
          <a:p>
            <a:pPr marL="12700">
              <a:lnSpc>
                <a:spcPct val="100000"/>
              </a:lnSpc>
              <a:spcBef>
                <a:spcPts val="35"/>
              </a:spcBef>
            </a:pPr>
            <a:r>
              <a:rPr spc="180" dirty="0"/>
              <a:t>PAGE</a:t>
            </a:r>
            <a:r>
              <a:rPr spc="190" dirty="0"/>
              <a:t> </a:t>
            </a:r>
            <a:fld id="{81D60167-4931-47E6-BA6A-407CBD079E47}" type="slidenum">
              <a:rPr spc="50" dirty="0"/>
              <a:t>‹#›</a:t>
            </a:fld>
            <a:endParaRPr spc="50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4.jpeg"/><Relationship Id="rId4" Type="http://schemas.openxmlformats.org/officeDocument/2006/relationships/image" Target="../media/image1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0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8.jpg"/><Relationship Id="rId5" Type="http://schemas.openxmlformats.org/officeDocument/2006/relationships/image" Target="../media/image16.png"/><Relationship Id="rId4" Type="http://schemas.openxmlformats.org/officeDocument/2006/relationships/image" Target="../media/image10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9.jpg"/><Relationship Id="rId5" Type="http://schemas.openxmlformats.org/officeDocument/2006/relationships/image" Target="../media/image16.png"/><Relationship Id="rId4" Type="http://schemas.openxmlformats.org/officeDocument/2006/relationships/image" Target="../media/image10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322677" y="496374"/>
            <a:ext cx="6035040" cy="1255395"/>
          </a:xfrm>
          <a:prstGeom prst="rect">
            <a:avLst/>
          </a:prstGeom>
        </p:spPr>
        <p:txBody>
          <a:bodyPr vert="horz" wrap="square" lIns="0" tIns="762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00"/>
              </a:spcBef>
            </a:pPr>
            <a:r>
              <a:rPr sz="2350" b="1" spc="60" dirty="0">
                <a:solidFill>
                  <a:srgbClr val="FFFFFF"/>
                </a:solidFill>
                <a:latin typeface="Tahoma"/>
                <a:cs typeface="Tahoma"/>
              </a:rPr>
              <a:t>Vidyavardhaka</a:t>
            </a:r>
            <a:r>
              <a:rPr sz="2350" b="1" spc="1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350" b="1" spc="70" dirty="0">
                <a:solidFill>
                  <a:srgbClr val="FFFFFF"/>
                </a:solidFill>
                <a:latin typeface="Tahoma"/>
                <a:cs typeface="Tahoma"/>
              </a:rPr>
              <a:t>College</a:t>
            </a:r>
            <a:r>
              <a:rPr sz="2350" b="1" spc="1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350" b="1" dirty="0">
                <a:solidFill>
                  <a:srgbClr val="FFFFFF"/>
                </a:solidFill>
                <a:latin typeface="Tahoma"/>
                <a:cs typeface="Tahoma"/>
              </a:rPr>
              <a:t>of</a:t>
            </a:r>
            <a:r>
              <a:rPr sz="2350" b="1" spc="1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350" b="1" spc="65" dirty="0">
                <a:solidFill>
                  <a:srgbClr val="FFFFFF"/>
                </a:solidFill>
                <a:latin typeface="Tahoma"/>
                <a:cs typeface="Tahoma"/>
              </a:rPr>
              <a:t>Engineering</a:t>
            </a:r>
            <a:endParaRPr sz="2350">
              <a:latin typeface="Tahoma"/>
              <a:cs typeface="Tahoma"/>
            </a:endParaRPr>
          </a:p>
          <a:p>
            <a:pPr marL="12700" marR="1277620">
              <a:lnSpc>
                <a:spcPct val="116700"/>
              </a:lnSpc>
              <a:spcBef>
                <a:spcPts val="55"/>
              </a:spcBef>
            </a:pPr>
            <a:r>
              <a:rPr sz="1500" spc="50" dirty="0">
                <a:solidFill>
                  <a:srgbClr val="FFFFFF"/>
                </a:solidFill>
                <a:latin typeface="Verdana"/>
                <a:cs typeface="Verdana"/>
              </a:rPr>
              <a:t>Autonomous</a:t>
            </a:r>
            <a:r>
              <a:rPr sz="1500" spc="-6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500" spc="-25" dirty="0">
                <a:solidFill>
                  <a:srgbClr val="FFFFFF"/>
                </a:solidFill>
                <a:latin typeface="Verdana"/>
                <a:cs typeface="Verdana"/>
              </a:rPr>
              <a:t>Institute,</a:t>
            </a:r>
            <a:r>
              <a:rPr sz="1500" spc="-6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500" dirty="0">
                <a:solidFill>
                  <a:srgbClr val="FFFFFF"/>
                </a:solidFill>
                <a:latin typeface="Verdana"/>
                <a:cs typeface="Verdana"/>
              </a:rPr>
              <a:t>Affiliated</a:t>
            </a:r>
            <a:r>
              <a:rPr sz="1500" spc="-6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500" dirty="0">
                <a:solidFill>
                  <a:srgbClr val="FFFFFF"/>
                </a:solidFill>
                <a:latin typeface="Verdana"/>
                <a:cs typeface="Verdana"/>
              </a:rPr>
              <a:t>to</a:t>
            </a:r>
            <a:r>
              <a:rPr sz="1500" spc="-6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500" spc="-45" dirty="0">
                <a:solidFill>
                  <a:srgbClr val="FFFFFF"/>
                </a:solidFill>
                <a:latin typeface="Verdana"/>
                <a:cs typeface="Verdana"/>
              </a:rPr>
              <a:t>VTU,</a:t>
            </a:r>
            <a:r>
              <a:rPr sz="1500" spc="-6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500" spc="-10" dirty="0">
                <a:solidFill>
                  <a:srgbClr val="FFFFFF"/>
                </a:solidFill>
                <a:latin typeface="Verdana"/>
                <a:cs typeface="Verdana"/>
              </a:rPr>
              <a:t>Belagavi </a:t>
            </a:r>
            <a:r>
              <a:rPr sz="1500" dirty="0">
                <a:solidFill>
                  <a:srgbClr val="FFFFFF"/>
                </a:solidFill>
                <a:latin typeface="Verdana"/>
                <a:cs typeface="Verdana"/>
              </a:rPr>
              <a:t>Accredited</a:t>
            </a:r>
            <a:r>
              <a:rPr sz="1500" spc="-6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500" dirty="0">
                <a:solidFill>
                  <a:srgbClr val="FFFFFF"/>
                </a:solidFill>
                <a:latin typeface="Verdana"/>
                <a:cs typeface="Verdana"/>
              </a:rPr>
              <a:t>by</a:t>
            </a:r>
            <a:r>
              <a:rPr sz="1500" spc="-5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500" spc="95" dirty="0">
                <a:solidFill>
                  <a:srgbClr val="FFFFFF"/>
                </a:solidFill>
                <a:latin typeface="Verdana"/>
                <a:cs typeface="Verdana"/>
              </a:rPr>
              <a:t>NBA</a:t>
            </a:r>
            <a:r>
              <a:rPr sz="1500" spc="-5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500" spc="-80" dirty="0">
                <a:solidFill>
                  <a:srgbClr val="FFFFFF"/>
                </a:solidFill>
                <a:latin typeface="Verdana"/>
                <a:cs typeface="Verdana"/>
              </a:rPr>
              <a:t>&amp;</a:t>
            </a:r>
            <a:r>
              <a:rPr sz="1500" spc="-5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500" spc="65" dirty="0">
                <a:solidFill>
                  <a:srgbClr val="FFFFFF"/>
                </a:solidFill>
                <a:latin typeface="Verdana"/>
                <a:cs typeface="Verdana"/>
              </a:rPr>
              <a:t>NAAC</a:t>
            </a:r>
            <a:r>
              <a:rPr sz="1500" spc="-5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500" spc="50" dirty="0">
                <a:solidFill>
                  <a:srgbClr val="FFFFFF"/>
                </a:solidFill>
                <a:latin typeface="Verdana"/>
                <a:cs typeface="Verdana"/>
              </a:rPr>
              <a:t>with</a:t>
            </a:r>
            <a:r>
              <a:rPr sz="1500" spc="-5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500" spc="60" dirty="0">
                <a:solidFill>
                  <a:srgbClr val="FFFFFF"/>
                </a:solidFill>
                <a:latin typeface="Verdana"/>
                <a:cs typeface="Verdana"/>
              </a:rPr>
              <a:t>A</a:t>
            </a:r>
            <a:r>
              <a:rPr sz="1500" spc="-5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500" spc="-10" dirty="0">
                <a:solidFill>
                  <a:srgbClr val="FFFFFF"/>
                </a:solidFill>
                <a:latin typeface="Verdana"/>
                <a:cs typeface="Verdana"/>
              </a:rPr>
              <a:t>Grade</a:t>
            </a:r>
            <a:endParaRPr sz="150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  <a:spcBef>
                <a:spcPts val="300"/>
              </a:spcBef>
            </a:pPr>
            <a:r>
              <a:rPr sz="1500" dirty="0">
                <a:solidFill>
                  <a:srgbClr val="FFFFFF"/>
                </a:solidFill>
                <a:latin typeface="Verdana"/>
                <a:cs typeface="Verdana"/>
              </a:rPr>
              <a:t>Gokulam</a:t>
            </a:r>
            <a:r>
              <a:rPr sz="1500" spc="-5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500" spc="-10" dirty="0">
                <a:solidFill>
                  <a:srgbClr val="FFFFFF"/>
                </a:solidFill>
                <a:latin typeface="Verdana"/>
                <a:cs typeface="Verdana"/>
              </a:rPr>
              <a:t>3rd</a:t>
            </a:r>
            <a:r>
              <a:rPr sz="1500" spc="-5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500" spc="-35" dirty="0">
                <a:solidFill>
                  <a:srgbClr val="FFFFFF"/>
                </a:solidFill>
                <a:latin typeface="Verdana"/>
                <a:cs typeface="Verdana"/>
              </a:rPr>
              <a:t>Stage,</a:t>
            </a:r>
            <a:r>
              <a:rPr sz="1500" spc="-5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500" dirty="0">
                <a:solidFill>
                  <a:srgbClr val="FFFFFF"/>
                </a:solidFill>
                <a:latin typeface="Verdana"/>
                <a:cs typeface="Verdana"/>
              </a:rPr>
              <a:t>Mysuru</a:t>
            </a:r>
            <a:r>
              <a:rPr sz="1500" spc="-5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500" spc="-195" dirty="0">
                <a:solidFill>
                  <a:srgbClr val="FFFFFF"/>
                </a:solidFill>
                <a:latin typeface="Verdana"/>
                <a:cs typeface="Verdana"/>
              </a:rPr>
              <a:t>–</a:t>
            </a:r>
            <a:r>
              <a:rPr sz="1500" spc="-5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500" spc="-40" dirty="0">
                <a:solidFill>
                  <a:srgbClr val="FFFFFF"/>
                </a:solidFill>
                <a:latin typeface="Verdana"/>
                <a:cs typeface="Verdana"/>
              </a:rPr>
              <a:t>570</a:t>
            </a:r>
            <a:r>
              <a:rPr sz="1500" spc="-5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500" spc="-60" dirty="0">
                <a:solidFill>
                  <a:srgbClr val="FFFFFF"/>
                </a:solidFill>
                <a:latin typeface="Verdana"/>
                <a:cs typeface="Verdana"/>
              </a:rPr>
              <a:t>002,</a:t>
            </a:r>
            <a:r>
              <a:rPr sz="1500" spc="-5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500" spc="-10" dirty="0">
                <a:solidFill>
                  <a:srgbClr val="FFFFFF"/>
                </a:solidFill>
                <a:latin typeface="Verdana"/>
                <a:cs typeface="Verdana"/>
              </a:rPr>
              <a:t>Karnataka,</a:t>
            </a:r>
            <a:r>
              <a:rPr sz="1500" spc="-5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500" spc="-10" dirty="0">
                <a:solidFill>
                  <a:srgbClr val="FFFFFF"/>
                </a:solidFill>
                <a:latin typeface="Verdana"/>
                <a:cs typeface="Verdana"/>
              </a:rPr>
              <a:t>India</a:t>
            </a:r>
            <a:endParaRPr sz="1500">
              <a:latin typeface="Verdana"/>
              <a:cs typeface="Verdana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3541800" y="9019660"/>
            <a:ext cx="6985634" cy="87566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5550" b="1" spc="265" dirty="0">
                <a:solidFill>
                  <a:srgbClr val="11162F"/>
                </a:solidFill>
                <a:latin typeface="Tahoma"/>
                <a:cs typeface="Tahoma"/>
              </a:rPr>
              <a:t>APRIL</a:t>
            </a:r>
            <a:r>
              <a:rPr sz="5550" b="1" spc="390" dirty="0">
                <a:solidFill>
                  <a:srgbClr val="11162F"/>
                </a:solidFill>
                <a:latin typeface="Tahoma"/>
                <a:cs typeface="Tahoma"/>
              </a:rPr>
              <a:t> </a:t>
            </a:r>
            <a:r>
              <a:rPr sz="5550" b="1" spc="204" dirty="0">
                <a:solidFill>
                  <a:srgbClr val="11162F"/>
                </a:solidFill>
                <a:latin typeface="Tahoma"/>
                <a:cs typeface="Tahoma"/>
              </a:rPr>
              <a:t>24-</a:t>
            </a:r>
            <a:r>
              <a:rPr sz="5550" b="1" dirty="0">
                <a:solidFill>
                  <a:srgbClr val="11162F"/>
                </a:solidFill>
                <a:latin typeface="Tahoma"/>
                <a:cs typeface="Tahoma"/>
              </a:rPr>
              <a:t>25</a:t>
            </a:r>
            <a:r>
              <a:rPr sz="5550" b="1" spc="400" dirty="0">
                <a:solidFill>
                  <a:srgbClr val="11162F"/>
                </a:solidFill>
                <a:latin typeface="Tahoma"/>
                <a:cs typeface="Tahoma"/>
              </a:rPr>
              <a:t> </a:t>
            </a:r>
            <a:r>
              <a:rPr sz="5550" b="1" spc="120" dirty="0">
                <a:solidFill>
                  <a:srgbClr val="11162F"/>
                </a:solidFill>
                <a:latin typeface="Tahoma"/>
                <a:cs typeface="Tahoma"/>
              </a:rPr>
              <a:t>2026</a:t>
            </a:r>
            <a:endParaRPr sz="5550">
              <a:latin typeface="Tahoma"/>
              <a:cs typeface="Tahoma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990600" y="2245842"/>
            <a:ext cx="9753600" cy="6221090"/>
            <a:chOff x="1659388" y="2245842"/>
            <a:chExt cx="8857615" cy="6012180"/>
          </a:xfrm>
        </p:grpSpPr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919192" y="2245842"/>
              <a:ext cx="8335525" cy="2635776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1659388" y="5733286"/>
              <a:ext cx="8857615" cy="2524760"/>
            </a:xfrm>
            <a:custGeom>
              <a:avLst/>
              <a:gdLst/>
              <a:ahLst/>
              <a:cxnLst/>
              <a:rect l="l" t="t" r="r" b="b"/>
              <a:pathLst>
                <a:path w="8857615" h="2524759">
                  <a:moveTo>
                    <a:pt x="7815674" y="2524185"/>
                  </a:moveTo>
                  <a:lnTo>
                    <a:pt x="1041823" y="2524185"/>
                  </a:lnTo>
                  <a:lnTo>
                    <a:pt x="994133" y="2523103"/>
                  </a:lnTo>
                  <a:lnTo>
                    <a:pt x="946994" y="2519905"/>
                  </a:lnTo>
                  <a:lnTo>
                    <a:pt x="900451" y="2514637"/>
                  </a:lnTo>
                  <a:lnTo>
                    <a:pt x="854551" y="2507344"/>
                  </a:lnTo>
                  <a:lnTo>
                    <a:pt x="809339" y="2498072"/>
                  </a:lnTo>
                  <a:lnTo>
                    <a:pt x="764861" y="2486869"/>
                  </a:lnTo>
                  <a:lnTo>
                    <a:pt x="721164" y="2473779"/>
                  </a:lnTo>
                  <a:lnTo>
                    <a:pt x="678293" y="2458848"/>
                  </a:lnTo>
                  <a:lnTo>
                    <a:pt x="636294" y="2442124"/>
                  </a:lnTo>
                  <a:lnTo>
                    <a:pt x="595213" y="2423652"/>
                  </a:lnTo>
                  <a:lnTo>
                    <a:pt x="555096" y="2403477"/>
                  </a:lnTo>
                  <a:lnTo>
                    <a:pt x="515990" y="2381646"/>
                  </a:lnTo>
                  <a:lnTo>
                    <a:pt x="477940" y="2358206"/>
                  </a:lnTo>
                  <a:lnTo>
                    <a:pt x="440991" y="2333201"/>
                  </a:lnTo>
                  <a:lnTo>
                    <a:pt x="405191" y="2306679"/>
                  </a:lnTo>
                  <a:lnTo>
                    <a:pt x="370585" y="2278685"/>
                  </a:lnTo>
                  <a:lnTo>
                    <a:pt x="337219" y="2249264"/>
                  </a:lnTo>
                  <a:lnTo>
                    <a:pt x="305139" y="2218465"/>
                  </a:lnTo>
                  <a:lnTo>
                    <a:pt x="274390" y="2186331"/>
                  </a:lnTo>
                  <a:lnTo>
                    <a:pt x="245020" y="2152910"/>
                  </a:lnTo>
                  <a:lnTo>
                    <a:pt x="217073" y="2118247"/>
                  </a:lnTo>
                  <a:lnTo>
                    <a:pt x="190597" y="2082388"/>
                  </a:lnTo>
                  <a:lnTo>
                    <a:pt x="165636" y="2045381"/>
                  </a:lnTo>
                  <a:lnTo>
                    <a:pt x="142237" y="2007269"/>
                  </a:lnTo>
                  <a:lnTo>
                    <a:pt x="120445" y="1968100"/>
                  </a:lnTo>
                  <a:lnTo>
                    <a:pt x="100308" y="1927920"/>
                  </a:lnTo>
                  <a:lnTo>
                    <a:pt x="81870" y="1886774"/>
                  </a:lnTo>
                  <a:lnTo>
                    <a:pt x="65177" y="1844710"/>
                  </a:lnTo>
                  <a:lnTo>
                    <a:pt x="50277" y="1801771"/>
                  </a:lnTo>
                  <a:lnTo>
                    <a:pt x="37214" y="1758006"/>
                  </a:lnTo>
                  <a:lnTo>
                    <a:pt x="26034" y="1713460"/>
                  </a:lnTo>
                  <a:lnTo>
                    <a:pt x="16784" y="1668178"/>
                  </a:lnTo>
                  <a:lnTo>
                    <a:pt x="9510" y="1622208"/>
                  </a:lnTo>
                  <a:lnTo>
                    <a:pt x="4257" y="1575594"/>
                  </a:lnTo>
                  <a:lnTo>
                    <a:pt x="1072" y="1528383"/>
                  </a:lnTo>
                  <a:lnTo>
                    <a:pt x="0" y="1480622"/>
                  </a:lnTo>
                  <a:lnTo>
                    <a:pt x="0" y="1043562"/>
                  </a:lnTo>
                  <a:lnTo>
                    <a:pt x="1134" y="994849"/>
                  </a:lnTo>
                  <a:lnTo>
                    <a:pt x="4517" y="946443"/>
                  </a:lnTo>
                  <a:lnTo>
                    <a:pt x="10119" y="898415"/>
                  </a:lnTo>
                  <a:lnTo>
                    <a:pt x="17911" y="850837"/>
                  </a:lnTo>
                  <a:lnTo>
                    <a:pt x="27864" y="803780"/>
                  </a:lnTo>
                  <a:lnTo>
                    <a:pt x="39949" y="757315"/>
                  </a:lnTo>
                  <a:lnTo>
                    <a:pt x="54136" y="711514"/>
                  </a:lnTo>
                  <a:lnTo>
                    <a:pt x="70396" y="666447"/>
                  </a:lnTo>
                  <a:lnTo>
                    <a:pt x="88699" y="622187"/>
                  </a:lnTo>
                  <a:lnTo>
                    <a:pt x="109016" y="578804"/>
                  </a:lnTo>
                  <a:lnTo>
                    <a:pt x="131319" y="536370"/>
                  </a:lnTo>
                  <a:lnTo>
                    <a:pt x="155576" y="494956"/>
                  </a:lnTo>
                  <a:lnTo>
                    <a:pt x="181761" y="454634"/>
                  </a:lnTo>
                  <a:lnTo>
                    <a:pt x="209842" y="415474"/>
                  </a:lnTo>
                  <a:lnTo>
                    <a:pt x="239791" y="377548"/>
                  </a:lnTo>
                  <a:lnTo>
                    <a:pt x="271578" y="340928"/>
                  </a:lnTo>
                  <a:lnTo>
                    <a:pt x="305174" y="305684"/>
                  </a:lnTo>
                  <a:lnTo>
                    <a:pt x="340374" y="272046"/>
                  </a:lnTo>
                  <a:lnTo>
                    <a:pt x="376945" y="240217"/>
                  </a:lnTo>
                  <a:lnTo>
                    <a:pt x="414816" y="210227"/>
                  </a:lnTo>
                  <a:lnTo>
                    <a:pt x="453915" y="182104"/>
                  </a:lnTo>
                  <a:lnTo>
                    <a:pt x="494173" y="155878"/>
                  </a:lnTo>
                  <a:lnTo>
                    <a:pt x="535518" y="131580"/>
                  </a:lnTo>
                  <a:lnTo>
                    <a:pt x="577880" y="109239"/>
                  </a:lnTo>
                  <a:lnTo>
                    <a:pt x="621188" y="88885"/>
                  </a:lnTo>
                  <a:lnTo>
                    <a:pt x="665370" y="70547"/>
                  </a:lnTo>
                  <a:lnTo>
                    <a:pt x="710356" y="54255"/>
                  </a:lnTo>
                  <a:lnTo>
                    <a:pt x="756076" y="40039"/>
                  </a:lnTo>
                  <a:lnTo>
                    <a:pt x="802458" y="27928"/>
                  </a:lnTo>
                  <a:lnTo>
                    <a:pt x="849431" y="17953"/>
                  </a:lnTo>
                  <a:lnTo>
                    <a:pt x="896925" y="10143"/>
                  </a:lnTo>
                  <a:lnTo>
                    <a:pt x="944869" y="4528"/>
                  </a:lnTo>
                  <a:lnTo>
                    <a:pt x="993192" y="1136"/>
                  </a:lnTo>
                  <a:lnTo>
                    <a:pt x="1041823" y="0"/>
                  </a:lnTo>
                  <a:lnTo>
                    <a:pt x="7815674" y="0"/>
                  </a:lnTo>
                  <a:lnTo>
                    <a:pt x="7864306" y="1136"/>
                  </a:lnTo>
                  <a:lnTo>
                    <a:pt x="7912631" y="4524"/>
                  </a:lnTo>
                  <a:lnTo>
                    <a:pt x="7960579" y="10136"/>
                  </a:lnTo>
                  <a:lnTo>
                    <a:pt x="8008078" y="17941"/>
                  </a:lnTo>
                  <a:lnTo>
                    <a:pt x="8055056" y="27911"/>
                  </a:lnTo>
                  <a:lnTo>
                    <a:pt x="8101444" y="40016"/>
                  </a:lnTo>
                  <a:lnTo>
                    <a:pt x="8147169" y="54226"/>
                  </a:lnTo>
                  <a:lnTo>
                    <a:pt x="8192160" y="70513"/>
                  </a:lnTo>
                  <a:lnTo>
                    <a:pt x="8236347" y="88847"/>
                  </a:lnTo>
                  <a:lnTo>
                    <a:pt x="8279657" y="109198"/>
                  </a:lnTo>
                  <a:lnTo>
                    <a:pt x="8322021" y="131538"/>
                  </a:lnTo>
                  <a:lnTo>
                    <a:pt x="8363365" y="155836"/>
                  </a:lnTo>
                  <a:lnTo>
                    <a:pt x="8403621" y="182064"/>
                  </a:lnTo>
                  <a:lnTo>
                    <a:pt x="8442715" y="210192"/>
                  </a:lnTo>
                  <a:lnTo>
                    <a:pt x="8480578" y="240191"/>
                  </a:lnTo>
                  <a:lnTo>
                    <a:pt x="8517137" y="272031"/>
                  </a:lnTo>
                  <a:lnTo>
                    <a:pt x="8552323" y="305684"/>
                  </a:lnTo>
                  <a:lnTo>
                    <a:pt x="8585904" y="340943"/>
                  </a:lnTo>
                  <a:lnTo>
                    <a:pt x="8617680" y="377574"/>
                  </a:lnTo>
                  <a:lnTo>
                    <a:pt x="8647621" y="415508"/>
                  </a:lnTo>
                  <a:lnTo>
                    <a:pt x="8675697" y="454673"/>
                  </a:lnTo>
                  <a:lnTo>
                    <a:pt x="8701878" y="494998"/>
                  </a:lnTo>
                  <a:lnTo>
                    <a:pt x="8726136" y="536412"/>
                  </a:lnTo>
                  <a:lnTo>
                    <a:pt x="8748440" y="578845"/>
                  </a:lnTo>
                  <a:lnTo>
                    <a:pt x="8768760" y="622225"/>
                  </a:lnTo>
                  <a:lnTo>
                    <a:pt x="8787068" y="666481"/>
                  </a:lnTo>
                  <a:lnTo>
                    <a:pt x="8803332" y="711542"/>
                  </a:lnTo>
                  <a:lnTo>
                    <a:pt x="8817525" y="757338"/>
                  </a:lnTo>
                  <a:lnTo>
                    <a:pt x="8829615" y="803798"/>
                  </a:lnTo>
                  <a:lnTo>
                    <a:pt x="8839573" y="850849"/>
                  </a:lnTo>
                  <a:lnTo>
                    <a:pt x="8847370" y="898423"/>
                  </a:lnTo>
                  <a:lnTo>
                    <a:pt x="8852977" y="946447"/>
                  </a:lnTo>
                  <a:lnTo>
                    <a:pt x="8856362" y="994850"/>
                  </a:lnTo>
                  <a:lnTo>
                    <a:pt x="8857497" y="1043562"/>
                  </a:lnTo>
                  <a:lnTo>
                    <a:pt x="8857497" y="1480622"/>
                  </a:lnTo>
                  <a:lnTo>
                    <a:pt x="8856363" y="1529335"/>
                  </a:lnTo>
                  <a:lnTo>
                    <a:pt x="8852980" y="1577741"/>
                  </a:lnTo>
                  <a:lnTo>
                    <a:pt x="8847378" y="1625769"/>
                  </a:lnTo>
                  <a:lnTo>
                    <a:pt x="8839585" y="1673347"/>
                  </a:lnTo>
                  <a:lnTo>
                    <a:pt x="8829632" y="1720404"/>
                  </a:lnTo>
                  <a:lnTo>
                    <a:pt x="8817548" y="1766869"/>
                  </a:lnTo>
                  <a:lnTo>
                    <a:pt x="8803361" y="1812670"/>
                  </a:lnTo>
                  <a:lnTo>
                    <a:pt x="8787101" y="1857737"/>
                  </a:lnTo>
                  <a:lnTo>
                    <a:pt x="8768798" y="1901997"/>
                  </a:lnTo>
                  <a:lnTo>
                    <a:pt x="8748480" y="1945380"/>
                  </a:lnTo>
                  <a:lnTo>
                    <a:pt x="8726178" y="1987814"/>
                  </a:lnTo>
                  <a:lnTo>
                    <a:pt x="8701920" y="2029228"/>
                  </a:lnTo>
                  <a:lnTo>
                    <a:pt x="8675736" y="2069550"/>
                  </a:lnTo>
                  <a:lnTo>
                    <a:pt x="8647655" y="2108710"/>
                  </a:lnTo>
                  <a:lnTo>
                    <a:pt x="8617706" y="2146636"/>
                  </a:lnTo>
                  <a:lnTo>
                    <a:pt x="8585919" y="2183257"/>
                  </a:lnTo>
                  <a:lnTo>
                    <a:pt x="8552323" y="2218500"/>
                  </a:lnTo>
                  <a:lnTo>
                    <a:pt x="8517123" y="2252138"/>
                  </a:lnTo>
                  <a:lnTo>
                    <a:pt x="8480552" y="2283967"/>
                  </a:lnTo>
                  <a:lnTo>
                    <a:pt x="8442681" y="2313958"/>
                  </a:lnTo>
                  <a:lnTo>
                    <a:pt x="8403582" y="2342081"/>
                  </a:lnTo>
                  <a:lnTo>
                    <a:pt x="8363324" y="2368306"/>
                  </a:lnTo>
                  <a:lnTo>
                    <a:pt x="8321979" y="2392604"/>
                  </a:lnTo>
                  <a:lnTo>
                    <a:pt x="8279617" y="2414945"/>
                  </a:lnTo>
                  <a:lnTo>
                    <a:pt x="8236309" y="2435300"/>
                  </a:lnTo>
                  <a:lnTo>
                    <a:pt x="8192127" y="2453638"/>
                  </a:lnTo>
                  <a:lnTo>
                    <a:pt x="8147141" y="2469929"/>
                  </a:lnTo>
                  <a:lnTo>
                    <a:pt x="8101421" y="2484145"/>
                  </a:lnTo>
                  <a:lnTo>
                    <a:pt x="8055039" y="2496256"/>
                  </a:lnTo>
                  <a:lnTo>
                    <a:pt x="8008066" y="2506231"/>
                  </a:lnTo>
                  <a:lnTo>
                    <a:pt x="7960572" y="2514041"/>
                  </a:lnTo>
                  <a:lnTo>
                    <a:pt x="7912628" y="2519657"/>
                  </a:lnTo>
                  <a:lnTo>
                    <a:pt x="7864305" y="2523048"/>
                  </a:lnTo>
                  <a:lnTo>
                    <a:pt x="7815674" y="2524185"/>
                  </a:lnTo>
                  <a:close/>
                </a:path>
              </a:pathLst>
            </a:custGeom>
            <a:solidFill>
              <a:srgbClr val="F5F5D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/>
          <p:nvPr/>
        </p:nvSpPr>
        <p:spPr>
          <a:xfrm>
            <a:off x="1659388" y="3563730"/>
            <a:ext cx="7748270" cy="4903202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873125" algn="ctr">
              <a:lnSpc>
                <a:spcPct val="100000"/>
              </a:lnSpc>
              <a:spcBef>
                <a:spcPts val="125"/>
              </a:spcBef>
            </a:pPr>
            <a:r>
              <a:rPr sz="5750" b="1" spc="135" dirty="0">
                <a:solidFill>
                  <a:srgbClr val="FF3131"/>
                </a:solidFill>
                <a:latin typeface="Tahoma"/>
                <a:cs typeface="Tahoma"/>
              </a:rPr>
              <a:t>VLSI</a:t>
            </a:r>
            <a:endParaRPr sz="5750" dirty="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5625"/>
              </a:spcBef>
            </a:pPr>
            <a:r>
              <a:rPr sz="2400" b="1" spc="140" dirty="0">
                <a:solidFill>
                  <a:srgbClr val="001ABD"/>
                </a:solidFill>
                <a:latin typeface="Tahoma"/>
                <a:cs typeface="Tahoma"/>
              </a:rPr>
              <a:t>ZeroDelay:</a:t>
            </a:r>
            <a:r>
              <a:rPr sz="2400" b="1" spc="240" dirty="0">
                <a:solidFill>
                  <a:srgbClr val="001ABD"/>
                </a:solidFill>
                <a:latin typeface="Tahoma"/>
                <a:cs typeface="Tahoma"/>
              </a:rPr>
              <a:t> </a:t>
            </a:r>
            <a:r>
              <a:rPr sz="2400" b="1" spc="125" dirty="0">
                <a:solidFill>
                  <a:srgbClr val="001ABD"/>
                </a:solidFill>
                <a:latin typeface="Tahoma"/>
                <a:cs typeface="Tahoma"/>
              </a:rPr>
              <a:t>Real-</a:t>
            </a:r>
            <a:r>
              <a:rPr sz="2400" b="1" spc="165" dirty="0">
                <a:solidFill>
                  <a:srgbClr val="001ABD"/>
                </a:solidFill>
                <a:latin typeface="Tahoma"/>
                <a:cs typeface="Tahoma"/>
              </a:rPr>
              <a:t>Time</a:t>
            </a:r>
            <a:r>
              <a:rPr sz="2400" b="1" spc="240" dirty="0">
                <a:solidFill>
                  <a:srgbClr val="001ABD"/>
                </a:solidFill>
                <a:latin typeface="Tahoma"/>
                <a:cs typeface="Tahoma"/>
              </a:rPr>
              <a:t> </a:t>
            </a:r>
            <a:r>
              <a:rPr sz="2400" b="1" spc="135" dirty="0">
                <a:solidFill>
                  <a:srgbClr val="001ABD"/>
                </a:solidFill>
                <a:latin typeface="Tahoma"/>
                <a:cs typeface="Tahoma"/>
              </a:rPr>
              <a:t>Traffic</a:t>
            </a:r>
            <a:r>
              <a:rPr sz="2400" b="1" spc="240" dirty="0">
                <a:solidFill>
                  <a:srgbClr val="001ABD"/>
                </a:solidFill>
                <a:latin typeface="Tahoma"/>
                <a:cs typeface="Tahoma"/>
              </a:rPr>
              <a:t> </a:t>
            </a:r>
            <a:r>
              <a:rPr sz="2400" b="1" spc="170" dirty="0">
                <a:solidFill>
                  <a:srgbClr val="001ABD"/>
                </a:solidFill>
                <a:latin typeface="Tahoma"/>
                <a:cs typeface="Tahoma"/>
              </a:rPr>
              <a:t>Control</a:t>
            </a:r>
            <a:r>
              <a:rPr sz="2400" b="1" spc="240" dirty="0">
                <a:solidFill>
                  <a:srgbClr val="001ABD"/>
                </a:solidFill>
                <a:latin typeface="Tahoma"/>
                <a:cs typeface="Tahoma"/>
              </a:rPr>
              <a:t> </a:t>
            </a:r>
            <a:r>
              <a:rPr sz="2400" b="1" spc="160" dirty="0">
                <a:solidFill>
                  <a:srgbClr val="001ABD"/>
                </a:solidFill>
                <a:latin typeface="Tahoma"/>
                <a:cs typeface="Tahoma"/>
              </a:rPr>
              <a:t>System</a:t>
            </a:r>
            <a:endParaRPr sz="2400" dirty="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265"/>
              </a:spcBef>
            </a:pPr>
            <a:endParaRPr sz="2400" dirty="0">
              <a:latin typeface="Tahoma"/>
              <a:cs typeface="Tahoma"/>
            </a:endParaRPr>
          </a:p>
          <a:p>
            <a:pPr marL="331470" marR="1042035">
              <a:lnSpc>
                <a:spcPct val="105500"/>
              </a:lnSpc>
              <a:spcBef>
                <a:spcPts val="5"/>
              </a:spcBef>
            </a:pPr>
            <a:r>
              <a:rPr sz="2600" b="1" spc="245" dirty="0">
                <a:solidFill>
                  <a:srgbClr val="11162F"/>
                </a:solidFill>
                <a:latin typeface="Tahoma"/>
                <a:cs typeface="Tahoma"/>
              </a:rPr>
              <a:t>TEAM</a:t>
            </a:r>
            <a:r>
              <a:rPr sz="2600" b="1" spc="260" dirty="0">
                <a:solidFill>
                  <a:srgbClr val="11162F"/>
                </a:solidFill>
                <a:latin typeface="Tahoma"/>
                <a:cs typeface="Tahoma"/>
              </a:rPr>
              <a:t> </a:t>
            </a:r>
            <a:r>
              <a:rPr sz="2600" b="1" spc="190" dirty="0">
                <a:solidFill>
                  <a:srgbClr val="11162F"/>
                </a:solidFill>
                <a:latin typeface="Tahoma"/>
                <a:cs typeface="Tahoma"/>
              </a:rPr>
              <a:t>NAME:</a:t>
            </a:r>
            <a:r>
              <a:rPr sz="2600" b="1" spc="260" dirty="0">
                <a:solidFill>
                  <a:srgbClr val="11162F"/>
                </a:solidFill>
                <a:latin typeface="Tahoma"/>
                <a:cs typeface="Tahoma"/>
              </a:rPr>
              <a:t> </a:t>
            </a:r>
            <a:r>
              <a:rPr sz="2600" b="1" spc="85" dirty="0">
                <a:solidFill>
                  <a:srgbClr val="11162F"/>
                </a:solidFill>
                <a:latin typeface="Tahoma"/>
                <a:cs typeface="Tahoma"/>
              </a:rPr>
              <a:t>SILICON</a:t>
            </a:r>
            <a:r>
              <a:rPr sz="2600" b="1" spc="260" dirty="0">
                <a:solidFill>
                  <a:srgbClr val="11162F"/>
                </a:solidFill>
                <a:latin typeface="Tahoma"/>
                <a:cs typeface="Tahoma"/>
              </a:rPr>
              <a:t> </a:t>
            </a:r>
            <a:r>
              <a:rPr sz="2600" b="1" spc="165" dirty="0">
                <a:solidFill>
                  <a:srgbClr val="11162F"/>
                </a:solidFill>
                <a:latin typeface="Tahoma"/>
                <a:cs typeface="Tahoma"/>
              </a:rPr>
              <a:t>SYNDICATE </a:t>
            </a:r>
            <a:r>
              <a:rPr sz="2600" b="1" spc="-10" dirty="0">
                <a:solidFill>
                  <a:srgbClr val="11162F"/>
                </a:solidFill>
                <a:latin typeface="Tahoma"/>
                <a:cs typeface="Tahoma"/>
              </a:rPr>
              <a:t>PSID:SYM0101</a:t>
            </a:r>
            <a:endParaRPr lang="en-IN" sz="2600" b="1" spc="-10" dirty="0">
              <a:solidFill>
                <a:srgbClr val="11162F"/>
              </a:solidFill>
              <a:latin typeface="Tahoma"/>
              <a:cs typeface="Tahoma"/>
            </a:endParaRPr>
          </a:p>
          <a:p>
            <a:pPr marL="331470" marR="1042035">
              <a:lnSpc>
                <a:spcPct val="105500"/>
              </a:lnSpc>
              <a:spcBef>
                <a:spcPts val="5"/>
              </a:spcBef>
            </a:pPr>
            <a:r>
              <a:rPr lang="en-IN" sz="2600" b="1" spc="-10" dirty="0">
                <a:solidFill>
                  <a:srgbClr val="11162F"/>
                </a:solidFill>
                <a:latin typeface="Tahoma"/>
                <a:cs typeface="Tahoma"/>
              </a:rPr>
              <a:t>DHRUTHIKA R </a:t>
            </a:r>
          </a:p>
          <a:p>
            <a:pPr marL="331470" marR="1042035">
              <a:lnSpc>
                <a:spcPct val="105500"/>
              </a:lnSpc>
              <a:spcBef>
                <a:spcPts val="5"/>
              </a:spcBef>
            </a:pPr>
            <a:r>
              <a:rPr lang="en-IN" sz="2600" b="1" spc="-10" dirty="0">
                <a:solidFill>
                  <a:srgbClr val="11162F"/>
                </a:solidFill>
                <a:latin typeface="Tahoma"/>
                <a:cs typeface="Tahoma"/>
              </a:rPr>
              <a:t>CHANDANA A R </a:t>
            </a:r>
          </a:p>
          <a:p>
            <a:pPr marL="331470" marR="1042035">
              <a:lnSpc>
                <a:spcPct val="105500"/>
              </a:lnSpc>
              <a:spcBef>
                <a:spcPts val="5"/>
              </a:spcBef>
            </a:pPr>
            <a:r>
              <a:rPr lang="en-IN" sz="2600" b="1" spc="-10" dirty="0">
                <a:solidFill>
                  <a:srgbClr val="11162F"/>
                </a:solidFill>
                <a:latin typeface="Tahoma"/>
                <a:cs typeface="Tahoma"/>
              </a:rPr>
              <a:t>JAYANTH K</a:t>
            </a:r>
          </a:p>
          <a:p>
            <a:pPr marL="331470" marR="1042035">
              <a:lnSpc>
                <a:spcPct val="105500"/>
              </a:lnSpc>
              <a:spcBef>
                <a:spcPts val="5"/>
              </a:spcBef>
            </a:pPr>
            <a:r>
              <a:rPr lang="en-IN" sz="2600" b="1" spc="-10" dirty="0">
                <a:solidFill>
                  <a:srgbClr val="11162F"/>
                </a:solidFill>
                <a:latin typeface="Tahoma"/>
                <a:cs typeface="Tahoma"/>
              </a:rPr>
              <a:t>VIKAS M N</a:t>
            </a:r>
            <a:endParaRPr sz="2600" dirty="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3752228"/>
            <a:ext cx="18288000" cy="6534784"/>
            <a:chOff x="0" y="3752228"/>
            <a:chExt cx="18288000" cy="6534784"/>
          </a:xfrm>
        </p:grpSpPr>
        <p:sp>
          <p:nvSpPr>
            <p:cNvPr id="3" name="object 3"/>
            <p:cNvSpPr/>
            <p:nvPr/>
          </p:nvSpPr>
          <p:spPr>
            <a:xfrm>
              <a:off x="0" y="3752239"/>
              <a:ext cx="18288000" cy="6534784"/>
            </a:xfrm>
            <a:custGeom>
              <a:avLst/>
              <a:gdLst/>
              <a:ahLst/>
              <a:cxnLst/>
              <a:rect l="l" t="t" r="r" b="b"/>
              <a:pathLst>
                <a:path w="18288000" h="6534784">
                  <a:moveTo>
                    <a:pt x="873848" y="5710567"/>
                  </a:moveTo>
                  <a:lnTo>
                    <a:pt x="0" y="5710567"/>
                  </a:lnTo>
                  <a:lnTo>
                    <a:pt x="0" y="6534772"/>
                  </a:lnTo>
                  <a:lnTo>
                    <a:pt x="873848" y="6534772"/>
                  </a:lnTo>
                  <a:lnTo>
                    <a:pt x="873848" y="5710567"/>
                  </a:lnTo>
                  <a:close/>
                </a:path>
                <a:path w="18288000" h="6534784">
                  <a:moveTo>
                    <a:pt x="18287988" y="5692191"/>
                  </a:moveTo>
                  <a:lnTo>
                    <a:pt x="17411688" y="5692191"/>
                  </a:lnTo>
                  <a:lnTo>
                    <a:pt x="17411688" y="6534772"/>
                  </a:lnTo>
                  <a:lnTo>
                    <a:pt x="18287988" y="6534772"/>
                  </a:lnTo>
                  <a:lnTo>
                    <a:pt x="18287988" y="5692191"/>
                  </a:lnTo>
                  <a:close/>
                </a:path>
                <a:path w="18288000" h="6534784">
                  <a:moveTo>
                    <a:pt x="18287988" y="0"/>
                  </a:moveTo>
                  <a:lnTo>
                    <a:pt x="2705" y="0"/>
                  </a:lnTo>
                  <a:lnTo>
                    <a:pt x="2705" y="5692140"/>
                  </a:lnTo>
                  <a:lnTo>
                    <a:pt x="18287988" y="5692140"/>
                  </a:lnTo>
                  <a:lnTo>
                    <a:pt x="18287988" y="0"/>
                  </a:lnTo>
                  <a:close/>
                </a:path>
              </a:pathLst>
            </a:custGeom>
            <a:solidFill>
              <a:srgbClr val="00C3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10355" y="3752288"/>
              <a:ext cx="6677024" cy="4448174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9708339" y="3752288"/>
              <a:ext cx="7229474" cy="4448174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68905" y="3764673"/>
              <a:ext cx="90171" cy="90171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368905" y="4502436"/>
              <a:ext cx="90171" cy="90171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368905" y="4133555"/>
              <a:ext cx="90171" cy="90171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368905" y="4871318"/>
              <a:ext cx="90171" cy="90171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368905" y="5240200"/>
              <a:ext cx="90171" cy="90171"/>
            </a:xfrm>
            <a:prstGeom prst="rect">
              <a:avLst/>
            </a:prstGeom>
          </p:spPr>
        </p:pic>
      </p:grpSp>
      <p:sp>
        <p:nvSpPr>
          <p:cNvPr id="11" name="object 11" descr="$PPTXTitle"/>
          <p:cNvSpPr txBox="1">
            <a:spLocks noGrp="1"/>
          </p:cNvSpPr>
          <p:nvPr>
            <p:ph type="title"/>
          </p:nvPr>
        </p:nvSpPr>
        <p:spPr>
          <a:xfrm>
            <a:off x="506555" y="206174"/>
            <a:ext cx="6306820" cy="7874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5000" b="1" spc="160" dirty="0">
                <a:latin typeface="Tahoma"/>
                <a:cs typeface="Tahoma"/>
              </a:rPr>
              <a:t>problem</a:t>
            </a:r>
            <a:r>
              <a:rPr sz="5000" b="1" spc="-100" dirty="0">
                <a:latin typeface="Tahoma"/>
                <a:cs typeface="Tahoma"/>
              </a:rPr>
              <a:t> </a:t>
            </a:r>
            <a:r>
              <a:rPr sz="5000" b="1" spc="-10" dirty="0">
                <a:latin typeface="Tahoma"/>
                <a:cs typeface="Tahoma"/>
              </a:rPr>
              <a:t>statement</a:t>
            </a:r>
            <a:endParaRPr sz="5000">
              <a:latin typeface="Tahoma"/>
              <a:cs typeface="Tahoma"/>
            </a:endParaRPr>
          </a:p>
        </p:txBody>
      </p:sp>
      <p:pic>
        <p:nvPicPr>
          <p:cNvPr id="12" name="object 12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368905" y="1551384"/>
            <a:ext cx="90171" cy="90171"/>
          </a:xfrm>
          <a:prstGeom prst="rect">
            <a:avLst/>
          </a:prstGeom>
        </p:spPr>
      </p:pic>
      <p:pic>
        <p:nvPicPr>
          <p:cNvPr id="13" name="object 13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368905" y="2289147"/>
            <a:ext cx="90171" cy="90171"/>
          </a:xfrm>
          <a:prstGeom prst="rect">
            <a:avLst/>
          </a:prstGeom>
        </p:spPr>
      </p:pic>
      <p:pic>
        <p:nvPicPr>
          <p:cNvPr id="14" name="object 1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368905" y="3026910"/>
            <a:ext cx="90171" cy="90171"/>
          </a:xfrm>
          <a:prstGeom prst="rect">
            <a:avLst/>
          </a:prstGeom>
        </p:spPr>
      </p:pic>
      <p:pic>
        <p:nvPicPr>
          <p:cNvPr id="15" name="object 1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368905" y="3395792"/>
            <a:ext cx="90171" cy="90171"/>
          </a:xfrm>
          <a:prstGeom prst="rect">
            <a:avLst/>
          </a:prstGeom>
        </p:spPr>
      </p:pic>
      <p:sp>
        <p:nvSpPr>
          <p:cNvPr id="16" name="object 16"/>
          <p:cNvSpPr txBox="1"/>
          <p:nvPr/>
        </p:nvSpPr>
        <p:spPr>
          <a:xfrm>
            <a:off x="81593" y="980444"/>
            <a:ext cx="18162270" cy="2607945"/>
          </a:xfrm>
          <a:prstGeom prst="rect">
            <a:avLst/>
          </a:prstGeom>
        </p:spPr>
        <p:txBody>
          <a:bodyPr vert="horz" wrap="square" lIns="0" tIns="685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40"/>
              </a:spcBef>
            </a:pPr>
            <a:r>
              <a:rPr sz="2050" b="1" spc="140" dirty="0">
                <a:solidFill>
                  <a:srgbClr val="FFBF00"/>
                </a:solidFill>
                <a:latin typeface="Tahoma"/>
                <a:cs typeface="Tahoma"/>
              </a:rPr>
              <a:t>Content:</a:t>
            </a:r>
            <a:endParaRPr sz="2050" dirty="0">
              <a:latin typeface="Tahoma"/>
              <a:cs typeface="Tahoma"/>
            </a:endParaRPr>
          </a:p>
          <a:p>
            <a:pPr marL="510540" marR="5080">
              <a:lnSpc>
                <a:spcPct val="118100"/>
              </a:lnSpc>
            </a:pPr>
            <a:r>
              <a:rPr sz="2050" b="1" spc="175" dirty="0">
                <a:solidFill>
                  <a:srgbClr val="FFBF00"/>
                </a:solidFill>
                <a:latin typeface="Tahoma"/>
                <a:cs typeface="Tahoma"/>
              </a:rPr>
              <a:t>High</a:t>
            </a:r>
            <a:r>
              <a:rPr sz="2050" b="1" spc="229" dirty="0">
                <a:solidFill>
                  <a:srgbClr val="FFBF00"/>
                </a:solidFill>
                <a:latin typeface="Tahoma"/>
                <a:cs typeface="Tahoma"/>
              </a:rPr>
              <a:t> </a:t>
            </a:r>
            <a:r>
              <a:rPr sz="2050" b="1" spc="165" dirty="0">
                <a:solidFill>
                  <a:srgbClr val="FFBF00"/>
                </a:solidFill>
                <a:latin typeface="Tahoma"/>
                <a:cs typeface="Tahoma"/>
              </a:rPr>
              <a:t>latency</a:t>
            </a:r>
            <a:r>
              <a:rPr sz="2050" b="1" spc="225" dirty="0">
                <a:solidFill>
                  <a:srgbClr val="FFBF00"/>
                </a:solidFill>
                <a:latin typeface="Tahoma"/>
                <a:cs typeface="Tahoma"/>
              </a:rPr>
              <a:t> </a:t>
            </a:r>
            <a:r>
              <a:rPr sz="2050" b="1" spc="175" dirty="0">
                <a:solidFill>
                  <a:srgbClr val="FFBF00"/>
                </a:solidFill>
                <a:latin typeface="Tahoma"/>
                <a:cs typeface="Tahoma"/>
              </a:rPr>
              <a:t>and</a:t>
            </a:r>
            <a:r>
              <a:rPr sz="2050" b="1" spc="229" dirty="0">
                <a:solidFill>
                  <a:srgbClr val="FFBF00"/>
                </a:solidFill>
                <a:latin typeface="Tahoma"/>
                <a:cs typeface="Tahoma"/>
              </a:rPr>
              <a:t> </a:t>
            </a:r>
            <a:r>
              <a:rPr sz="2050" b="1" spc="155" dirty="0">
                <a:solidFill>
                  <a:srgbClr val="FFBF00"/>
                </a:solidFill>
                <a:latin typeface="Tahoma"/>
                <a:cs typeface="Tahoma"/>
              </a:rPr>
              <a:t>inefficient</a:t>
            </a:r>
            <a:r>
              <a:rPr sz="2050" b="1" spc="225" dirty="0">
                <a:solidFill>
                  <a:srgbClr val="FFBF00"/>
                </a:solidFill>
                <a:latin typeface="Tahoma"/>
                <a:cs typeface="Tahoma"/>
              </a:rPr>
              <a:t> </a:t>
            </a:r>
            <a:r>
              <a:rPr sz="2050" b="1" spc="120" dirty="0">
                <a:solidFill>
                  <a:srgbClr val="FFBF00"/>
                </a:solidFill>
                <a:latin typeface="Tahoma"/>
                <a:cs typeface="Tahoma"/>
              </a:rPr>
              <a:t>real-</a:t>
            </a:r>
            <a:r>
              <a:rPr sz="2050" b="1" spc="170" dirty="0">
                <a:solidFill>
                  <a:srgbClr val="FFBF00"/>
                </a:solidFill>
                <a:latin typeface="Tahoma"/>
                <a:cs typeface="Tahoma"/>
              </a:rPr>
              <a:t>time</a:t>
            </a:r>
            <a:r>
              <a:rPr sz="2050" b="1" spc="229" dirty="0">
                <a:solidFill>
                  <a:srgbClr val="FFBF00"/>
                </a:solidFill>
                <a:latin typeface="Tahoma"/>
                <a:cs typeface="Tahoma"/>
              </a:rPr>
              <a:t> </a:t>
            </a:r>
            <a:r>
              <a:rPr sz="2050" b="1" spc="165" dirty="0">
                <a:solidFill>
                  <a:srgbClr val="FFBF00"/>
                </a:solidFill>
                <a:latin typeface="Tahoma"/>
                <a:cs typeface="Tahoma"/>
              </a:rPr>
              <a:t>control</a:t>
            </a:r>
            <a:r>
              <a:rPr sz="2050" b="1" spc="229" dirty="0">
                <a:solidFill>
                  <a:srgbClr val="FFBF00"/>
                </a:solidFill>
                <a:latin typeface="Tahoma"/>
                <a:cs typeface="Tahoma"/>
              </a:rPr>
              <a:t> </a:t>
            </a:r>
            <a:r>
              <a:rPr sz="2050" b="1" spc="110" dirty="0">
                <a:solidFill>
                  <a:srgbClr val="FFBF00"/>
                </a:solidFill>
                <a:latin typeface="Tahoma"/>
                <a:cs typeface="Tahoma"/>
              </a:rPr>
              <a:t>in</a:t>
            </a:r>
            <a:r>
              <a:rPr sz="2050" b="1" spc="225" dirty="0">
                <a:solidFill>
                  <a:srgbClr val="FFBF00"/>
                </a:solidFill>
                <a:latin typeface="Tahoma"/>
                <a:cs typeface="Tahoma"/>
              </a:rPr>
              <a:t> </a:t>
            </a:r>
            <a:r>
              <a:rPr sz="2050" b="1" spc="135" dirty="0">
                <a:solidFill>
                  <a:srgbClr val="FFBF00"/>
                </a:solidFill>
                <a:latin typeface="Tahoma"/>
                <a:cs typeface="Tahoma"/>
              </a:rPr>
              <a:t>fixed-</a:t>
            </a:r>
            <a:r>
              <a:rPr sz="2050" b="1" spc="160" dirty="0">
                <a:solidFill>
                  <a:srgbClr val="FFBF00"/>
                </a:solidFill>
                <a:latin typeface="Tahoma"/>
                <a:cs typeface="Tahoma"/>
              </a:rPr>
              <a:t>timer</a:t>
            </a:r>
            <a:r>
              <a:rPr sz="2050" b="1" spc="229" dirty="0">
                <a:solidFill>
                  <a:srgbClr val="FFBF00"/>
                </a:solidFill>
                <a:latin typeface="Tahoma"/>
                <a:cs typeface="Tahoma"/>
              </a:rPr>
              <a:t> </a:t>
            </a:r>
            <a:r>
              <a:rPr sz="2050" b="1" spc="130" dirty="0">
                <a:solidFill>
                  <a:srgbClr val="FFBF00"/>
                </a:solidFill>
                <a:latin typeface="Tahoma"/>
                <a:cs typeface="Tahoma"/>
              </a:rPr>
              <a:t>traffic</a:t>
            </a:r>
            <a:r>
              <a:rPr sz="2050" b="1" spc="229" dirty="0">
                <a:solidFill>
                  <a:srgbClr val="FFBF00"/>
                </a:solidFill>
                <a:latin typeface="Tahoma"/>
                <a:cs typeface="Tahoma"/>
              </a:rPr>
              <a:t> </a:t>
            </a:r>
            <a:r>
              <a:rPr sz="2050" b="1" spc="150" dirty="0">
                <a:solidFill>
                  <a:srgbClr val="FFBF00"/>
                </a:solidFill>
                <a:latin typeface="Tahoma"/>
                <a:cs typeface="Tahoma"/>
              </a:rPr>
              <a:t>systems,</a:t>
            </a:r>
            <a:r>
              <a:rPr sz="2050" b="1" spc="225" dirty="0">
                <a:solidFill>
                  <a:srgbClr val="FFBF00"/>
                </a:solidFill>
                <a:latin typeface="Tahoma"/>
                <a:cs typeface="Tahoma"/>
              </a:rPr>
              <a:t> </a:t>
            </a:r>
            <a:r>
              <a:rPr sz="2050" b="1" spc="150" dirty="0">
                <a:solidFill>
                  <a:srgbClr val="FFBF00"/>
                </a:solidFill>
                <a:latin typeface="Tahoma"/>
                <a:cs typeface="Tahoma"/>
              </a:rPr>
              <a:t>with</a:t>
            </a:r>
            <a:r>
              <a:rPr sz="2050" b="1" spc="229" dirty="0">
                <a:solidFill>
                  <a:srgbClr val="FFBF00"/>
                </a:solidFill>
                <a:latin typeface="Tahoma"/>
                <a:cs typeface="Tahoma"/>
              </a:rPr>
              <a:t> </a:t>
            </a:r>
            <a:r>
              <a:rPr sz="2050" b="1" spc="150" dirty="0">
                <a:solidFill>
                  <a:srgbClr val="FFBF00"/>
                </a:solidFill>
                <a:latin typeface="Tahoma"/>
                <a:cs typeface="Tahoma"/>
              </a:rPr>
              <a:t>no</a:t>
            </a:r>
            <a:r>
              <a:rPr sz="2050" b="1" spc="225" dirty="0">
                <a:solidFill>
                  <a:srgbClr val="FFBF00"/>
                </a:solidFill>
                <a:latin typeface="Tahoma"/>
                <a:cs typeface="Tahoma"/>
              </a:rPr>
              <a:t> </a:t>
            </a:r>
            <a:r>
              <a:rPr sz="2050" b="1" spc="140" dirty="0">
                <a:solidFill>
                  <a:srgbClr val="FFBF00"/>
                </a:solidFill>
                <a:latin typeface="Tahoma"/>
                <a:cs typeface="Tahoma"/>
              </a:rPr>
              <a:t>priority</a:t>
            </a:r>
            <a:r>
              <a:rPr sz="2050" b="1" spc="229" dirty="0">
                <a:solidFill>
                  <a:srgbClr val="FFBF00"/>
                </a:solidFill>
                <a:latin typeface="Tahoma"/>
                <a:cs typeface="Tahoma"/>
              </a:rPr>
              <a:t> </a:t>
            </a:r>
            <a:r>
              <a:rPr sz="2050" b="1" spc="180" dirty="0">
                <a:solidFill>
                  <a:srgbClr val="FFBF00"/>
                </a:solidFill>
                <a:latin typeface="Tahoma"/>
                <a:cs typeface="Tahoma"/>
              </a:rPr>
              <a:t>handling</a:t>
            </a:r>
            <a:r>
              <a:rPr sz="2050" b="1" spc="229" dirty="0">
                <a:solidFill>
                  <a:srgbClr val="FFBF00"/>
                </a:solidFill>
                <a:latin typeface="Tahoma"/>
                <a:cs typeface="Tahoma"/>
              </a:rPr>
              <a:t> </a:t>
            </a:r>
            <a:r>
              <a:rPr sz="2050" b="1" spc="105" dirty="0">
                <a:solidFill>
                  <a:srgbClr val="FFBF00"/>
                </a:solidFill>
                <a:latin typeface="Tahoma"/>
                <a:cs typeface="Tahoma"/>
              </a:rPr>
              <a:t>for</a:t>
            </a:r>
            <a:r>
              <a:rPr sz="2050" b="1" spc="225" dirty="0">
                <a:solidFill>
                  <a:srgbClr val="FFBF00"/>
                </a:solidFill>
                <a:latin typeface="Tahoma"/>
                <a:cs typeface="Tahoma"/>
              </a:rPr>
              <a:t> </a:t>
            </a:r>
            <a:r>
              <a:rPr sz="2050" b="1" spc="195" dirty="0">
                <a:solidFill>
                  <a:srgbClr val="FFBF00"/>
                </a:solidFill>
                <a:latin typeface="Tahoma"/>
                <a:cs typeface="Tahoma"/>
              </a:rPr>
              <a:t>emergency </a:t>
            </a:r>
            <a:r>
              <a:rPr sz="2050" b="1" spc="135" dirty="0">
                <a:solidFill>
                  <a:srgbClr val="FFBF00"/>
                </a:solidFill>
                <a:latin typeface="Tahoma"/>
                <a:cs typeface="Tahoma"/>
              </a:rPr>
              <a:t>vehicles.</a:t>
            </a:r>
            <a:endParaRPr sz="2050" dirty="0">
              <a:latin typeface="Tahoma"/>
              <a:cs typeface="Tahoma"/>
            </a:endParaRPr>
          </a:p>
          <a:p>
            <a:pPr marL="510540" marR="42545">
              <a:lnSpc>
                <a:spcPct val="118100"/>
              </a:lnSpc>
            </a:pPr>
            <a:r>
              <a:rPr sz="2050" spc="125" dirty="0">
                <a:solidFill>
                  <a:srgbClr val="F5F5DB"/>
                </a:solidFill>
                <a:latin typeface="Verdana"/>
                <a:cs typeface="Verdana"/>
              </a:rPr>
              <a:t>Reliance</a:t>
            </a:r>
            <a:r>
              <a:rPr sz="2050" spc="70" dirty="0">
                <a:solidFill>
                  <a:srgbClr val="F5F5DB"/>
                </a:solidFill>
                <a:latin typeface="Verdana"/>
                <a:cs typeface="Verdana"/>
              </a:rPr>
              <a:t> </a:t>
            </a:r>
            <a:r>
              <a:rPr sz="2050" spc="120" dirty="0">
                <a:solidFill>
                  <a:srgbClr val="F5F5DB"/>
                </a:solidFill>
                <a:latin typeface="Verdana"/>
                <a:cs typeface="Verdana"/>
              </a:rPr>
              <a:t>on</a:t>
            </a:r>
            <a:r>
              <a:rPr sz="2050" spc="70" dirty="0">
                <a:solidFill>
                  <a:srgbClr val="F5F5DB"/>
                </a:solidFill>
                <a:latin typeface="Verdana"/>
                <a:cs typeface="Verdana"/>
              </a:rPr>
              <a:t> </a:t>
            </a:r>
            <a:r>
              <a:rPr sz="2050" spc="105" dirty="0">
                <a:solidFill>
                  <a:srgbClr val="F5F5DB"/>
                </a:solidFill>
                <a:latin typeface="Verdana"/>
                <a:cs typeface="Verdana"/>
              </a:rPr>
              <a:t>static</a:t>
            </a:r>
            <a:r>
              <a:rPr sz="2050" spc="70" dirty="0">
                <a:solidFill>
                  <a:srgbClr val="F5F5DB"/>
                </a:solidFill>
                <a:latin typeface="Verdana"/>
                <a:cs typeface="Verdana"/>
              </a:rPr>
              <a:t> </a:t>
            </a:r>
            <a:r>
              <a:rPr sz="2050" spc="110" dirty="0">
                <a:solidFill>
                  <a:srgbClr val="F5F5DB"/>
                </a:solidFill>
                <a:latin typeface="Verdana"/>
                <a:cs typeface="Verdana"/>
              </a:rPr>
              <a:t>timing,</a:t>
            </a:r>
            <a:r>
              <a:rPr sz="2050" spc="75" dirty="0">
                <a:solidFill>
                  <a:srgbClr val="F5F5DB"/>
                </a:solidFill>
                <a:latin typeface="Verdana"/>
                <a:cs typeface="Verdana"/>
              </a:rPr>
              <a:t> </a:t>
            </a:r>
            <a:r>
              <a:rPr sz="2050" spc="135" dirty="0">
                <a:solidFill>
                  <a:srgbClr val="F5F5DB"/>
                </a:solidFill>
                <a:latin typeface="Verdana"/>
                <a:cs typeface="Verdana"/>
              </a:rPr>
              <a:t>absence</a:t>
            </a:r>
            <a:r>
              <a:rPr sz="2050" spc="70" dirty="0">
                <a:solidFill>
                  <a:srgbClr val="F5F5DB"/>
                </a:solidFill>
                <a:latin typeface="Verdana"/>
                <a:cs typeface="Verdana"/>
              </a:rPr>
              <a:t> </a:t>
            </a:r>
            <a:r>
              <a:rPr sz="2050" spc="60" dirty="0">
                <a:solidFill>
                  <a:srgbClr val="F5F5DB"/>
                </a:solidFill>
                <a:latin typeface="Verdana"/>
                <a:cs typeface="Verdana"/>
              </a:rPr>
              <a:t>of</a:t>
            </a:r>
            <a:r>
              <a:rPr sz="2050" spc="75" dirty="0">
                <a:solidFill>
                  <a:srgbClr val="F5F5DB"/>
                </a:solidFill>
                <a:latin typeface="Verdana"/>
                <a:cs typeface="Verdana"/>
              </a:rPr>
              <a:t> </a:t>
            </a:r>
            <a:r>
              <a:rPr sz="2050" spc="70" dirty="0">
                <a:solidFill>
                  <a:srgbClr val="F5F5DB"/>
                </a:solidFill>
                <a:latin typeface="Verdana"/>
                <a:cs typeface="Verdana"/>
              </a:rPr>
              <a:t>real-</a:t>
            </a:r>
            <a:r>
              <a:rPr sz="2050" spc="135" dirty="0">
                <a:solidFill>
                  <a:srgbClr val="F5F5DB"/>
                </a:solidFill>
                <a:latin typeface="Verdana"/>
                <a:cs typeface="Verdana"/>
              </a:rPr>
              <a:t>time</a:t>
            </a:r>
            <a:r>
              <a:rPr sz="2050" spc="70" dirty="0">
                <a:solidFill>
                  <a:srgbClr val="F5F5DB"/>
                </a:solidFill>
                <a:latin typeface="Verdana"/>
                <a:cs typeface="Verdana"/>
              </a:rPr>
              <a:t> </a:t>
            </a:r>
            <a:r>
              <a:rPr sz="2050" spc="125" dirty="0">
                <a:solidFill>
                  <a:srgbClr val="F5F5DB"/>
                </a:solidFill>
                <a:latin typeface="Verdana"/>
                <a:cs typeface="Verdana"/>
              </a:rPr>
              <a:t>hardware</a:t>
            </a:r>
            <a:r>
              <a:rPr sz="2050" spc="70" dirty="0">
                <a:solidFill>
                  <a:srgbClr val="F5F5DB"/>
                </a:solidFill>
                <a:latin typeface="Verdana"/>
                <a:cs typeface="Verdana"/>
              </a:rPr>
              <a:t> </a:t>
            </a:r>
            <a:r>
              <a:rPr sz="2050" spc="130" dirty="0">
                <a:solidFill>
                  <a:srgbClr val="F5F5DB"/>
                </a:solidFill>
                <a:latin typeface="Verdana"/>
                <a:cs typeface="Verdana"/>
              </a:rPr>
              <a:t>decision-</a:t>
            </a:r>
            <a:r>
              <a:rPr sz="2050" spc="110" dirty="0">
                <a:solidFill>
                  <a:srgbClr val="F5F5DB"/>
                </a:solidFill>
                <a:latin typeface="Verdana"/>
                <a:cs typeface="Verdana"/>
              </a:rPr>
              <a:t>making,</a:t>
            </a:r>
            <a:r>
              <a:rPr sz="2050" spc="70" dirty="0">
                <a:solidFill>
                  <a:srgbClr val="F5F5DB"/>
                </a:solidFill>
                <a:latin typeface="Verdana"/>
                <a:cs typeface="Verdana"/>
              </a:rPr>
              <a:t> </a:t>
            </a:r>
            <a:r>
              <a:rPr sz="2050" spc="140" dirty="0">
                <a:solidFill>
                  <a:srgbClr val="F5F5DB"/>
                </a:solidFill>
                <a:latin typeface="Verdana"/>
                <a:cs typeface="Verdana"/>
              </a:rPr>
              <a:t>and</a:t>
            </a:r>
            <a:r>
              <a:rPr sz="2050" spc="75" dirty="0">
                <a:solidFill>
                  <a:srgbClr val="F5F5DB"/>
                </a:solidFill>
                <a:latin typeface="Verdana"/>
                <a:cs typeface="Verdana"/>
              </a:rPr>
              <a:t> </a:t>
            </a:r>
            <a:r>
              <a:rPr sz="2050" spc="120" dirty="0">
                <a:solidFill>
                  <a:srgbClr val="F5F5DB"/>
                </a:solidFill>
                <a:latin typeface="Verdana"/>
                <a:cs typeface="Verdana"/>
              </a:rPr>
              <a:t>inefficiencies</a:t>
            </a:r>
            <a:r>
              <a:rPr sz="2050" spc="70" dirty="0">
                <a:solidFill>
                  <a:srgbClr val="F5F5DB"/>
                </a:solidFill>
                <a:latin typeface="Verdana"/>
                <a:cs typeface="Verdana"/>
              </a:rPr>
              <a:t> </a:t>
            </a:r>
            <a:r>
              <a:rPr sz="2050" spc="95" dirty="0">
                <a:solidFill>
                  <a:srgbClr val="F5F5DB"/>
                </a:solidFill>
                <a:latin typeface="Verdana"/>
                <a:cs typeface="Verdana"/>
              </a:rPr>
              <a:t>in</a:t>
            </a:r>
            <a:r>
              <a:rPr sz="2050" spc="70" dirty="0">
                <a:solidFill>
                  <a:srgbClr val="F5F5DB"/>
                </a:solidFill>
                <a:latin typeface="Verdana"/>
                <a:cs typeface="Verdana"/>
              </a:rPr>
              <a:t> </a:t>
            </a:r>
            <a:r>
              <a:rPr sz="2050" spc="130" dirty="0">
                <a:solidFill>
                  <a:srgbClr val="F5F5DB"/>
                </a:solidFill>
                <a:latin typeface="Verdana"/>
                <a:cs typeface="Verdana"/>
              </a:rPr>
              <a:t>conventional</a:t>
            </a:r>
            <a:r>
              <a:rPr sz="2050" spc="75" dirty="0">
                <a:solidFill>
                  <a:srgbClr val="F5F5DB"/>
                </a:solidFill>
                <a:latin typeface="Verdana"/>
                <a:cs typeface="Verdana"/>
              </a:rPr>
              <a:t> </a:t>
            </a:r>
            <a:r>
              <a:rPr sz="2050" spc="95" dirty="0">
                <a:solidFill>
                  <a:srgbClr val="F5F5DB"/>
                </a:solidFill>
                <a:latin typeface="Verdana"/>
                <a:cs typeface="Verdana"/>
              </a:rPr>
              <a:t>traffic</a:t>
            </a:r>
            <a:r>
              <a:rPr sz="2050" spc="70" dirty="0">
                <a:solidFill>
                  <a:srgbClr val="F5F5DB"/>
                </a:solidFill>
                <a:latin typeface="Verdana"/>
                <a:cs typeface="Verdana"/>
              </a:rPr>
              <a:t> </a:t>
            </a:r>
            <a:r>
              <a:rPr sz="2050" spc="110" dirty="0">
                <a:solidFill>
                  <a:srgbClr val="F5F5DB"/>
                </a:solidFill>
                <a:latin typeface="Verdana"/>
                <a:cs typeface="Verdana"/>
              </a:rPr>
              <a:t>contr </a:t>
            </a:r>
            <a:r>
              <a:rPr sz="2050" spc="90" dirty="0">
                <a:solidFill>
                  <a:srgbClr val="F5F5DB"/>
                </a:solidFill>
                <a:latin typeface="Verdana"/>
                <a:cs typeface="Verdana"/>
              </a:rPr>
              <a:t>architectures.</a:t>
            </a:r>
            <a:endParaRPr sz="2050" dirty="0">
              <a:latin typeface="Verdana"/>
              <a:cs typeface="Verdana"/>
            </a:endParaRPr>
          </a:p>
          <a:p>
            <a:pPr marL="510540" marR="1861820">
              <a:lnSpc>
                <a:spcPct val="118100"/>
              </a:lnSpc>
            </a:pPr>
            <a:r>
              <a:rPr sz="2050" spc="145" dirty="0">
                <a:solidFill>
                  <a:srgbClr val="F5F5DB"/>
                </a:solidFill>
                <a:latin typeface="Verdana"/>
                <a:cs typeface="Verdana"/>
              </a:rPr>
              <a:t>Urban</a:t>
            </a:r>
            <a:r>
              <a:rPr sz="2050" spc="60" dirty="0">
                <a:solidFill>
                  <a:srgbClr val="F5F5DB"/>
                </a:solidFill>
                <a:latin typeface="Verdana"/>
                <a:cs typeface="Verdana"/>
              </a:rPr>
              <a:t> </a:t>
            </a:r>
            <a:r>
              <a:rPr sz="2050" spc="120" dirty="0">
                <a:solidFill>
                  <a:srgbClr val="F5F5DB"/>
                </a:solidFill>
                <a:latin typeface="Verdana"/>
                <a:cs typeface="Verdana"/>
              </a:rPr>
              <a:t>commuters,</a:t>
            </a:r>
            <a:r>
              <a:rPr sz="2050" spc="65" dirty="0">
                <a:solidFill>
                  <a:srgbClr val="F5F5DB"/>
                </a:solidFill>
                <a:latin typeface="Verdana"/>
                <a:cs typeface="Verdana"/>
              </a:rPr>
              <a:t> </a:t>
            </a:r>
            <a:r>
              <a:rPr sz="2050" spc="145" dirty="0">
                <a:solidFill>
                  <a:srgbClr val="F5F5DB"/>
                </a:solidFill>
                <a:latin typeface="Verdana"/>
                <a:cs typeface="Verdana"/>
              </a:rPr>
              <a:t>emergency</a:t>
            </a:r>
            <a:r>
              <a:rPr sz="2050" spc="65" dirty="0">
                <a:solidFill>
                  <a:srgbClr val="F5F5DB"/>
                </a:solidFill>
                <a:latin typeface="Verdana"/>
                <a:cs typeface="Verdana"/>
              </a:rPr>
              <a:t> </a:t>
            </a:r>
            <a:r>
              <a:rPr sz="2050" spc="80" dirty="0">
                <a:solidFill>
                  <a:srgbClr val="F5F5DB"/>
                </a:solidFill>
                <a:latin typeface="Verdana"/>
                <a:cs typeface="Verdana"/>
              </a:rPr>
              <a:t>services</a:t>
            </a:r>
            <a:r>
              <a:rPr sz="2050" spc="65" dirty="0">
                <a:solidFill>
                  <a:srgbClr val="F5F5DB"/>
                </a:solidFill>
                <a:latin typeface="Verdana"/>
                <a:cs typeface="Verdana"/>
              </a:rPr>
              <a:t> </a:t>
            </a:r>
            <a:r>
              <a:rPr sz="2050" spc="55" dirty="0">
                <a:solidFill>
                  <a:srgbClr val="F5F5DB"/>
                </a:solidFill>
                <a:latin typeface="Verdana"/>
                <a:cs typeface="Verdana"/>
              </a:rPr>
              <a:t>are</a:t>
            </a:r>
            <a:r>
              <a:rPr sz="2050" spc="60" dirty="0">
                <a:solidFill>
                  <a:srgbClr val="F5F5DB"/>
                </a:solidFill>
                <a:latin typeface="Verdana"/>
                <a:cs typeface="Verdana"/>
              </a:rPr>
              <a:t> </a:t>
            </a:r>
            <a:r>
              <a:rPr sz="2050" spc="120" dirty="0">
                <a:solidFill>
                  <a:srgbClr val="F5F5DB"/>
                </a:solidFill>
                <a:latin typeface="Verdana"/>
                <a:cs typeface="Verdana"/>
              </a:rPr>
              <a:t>significantly</a:t>
            </a:r>
            <a:r>
              <a:rPr sz="2050" spc="65" dirty="0">
                <a:solidFill>
                  <a:srgbClr val="F5F5DB"/>
                </a:solidFill>
                <a:latin typeface="Verdana"/>
                <a:cs typeface="Verdana"/>
              </a:rPr>
              <a:t> </a:t>
            </a:r>
            <a:r>
              <a:rPr sz="2050" spc="165" dirty="0">
                <a:solidFill>
                  <a:srgbClr val="F5F5DB"/>
                </a:solidFill>
                <a:latin typeface="Verdana"/>
                <a:cs typeface="Verdana"/>
              </a:rPr>
              <a:t>impacted</a:t>
            </a:r>
            <a:r>
              <a:rPr sz="2050" spc="65" dirty="0">
                <a:solidFill>
                  <a:srgbClr val="F5F5DB"/>
                </a:solidFill>
                <a:latin typeface="Verdana"/>
                <a:cs typeface="Verdana"/>
              </a:rPr>
              <a:t> </a:t>
            </a:r>
            <a:r>
              <a:rPr sz="2050" spc="145" dirty="0">
                <a:solidFill>
                  <a:srgbClr val="F5F5DB"/>
                </a:solidFill>
                <a:latin typeface="Verdana"/>
                <a:cs typeface="Verdana"/>
              </a:rPr>
              <a:t>due</a:t>
            </a:r>
            <a:r>
              <a:rPr sz="2050" spc="65" dirty="0">
                <a:solidFill>
                  <a:srgbClr val="F5F5DB"/>
                </a:solidFill>
                <a:latin typeface="Verdana"/>
                <a:cs typeface="Verdana"/>
              </a:rPr>
              <a:t> </a:t>
            </a:r>
            <a:r>
              <a:rPr sz="2050" spc="85" dirty="0">
                <a:solidFill>
                  <a:srgbClr val="F5F5DB"/>
                </a:solidFill>
                <a:latin typeface="Verdana"/>
                <a:cs typeface="Verdana"/>
              </a:rPr>
              <a:t>to</a:t>
            </a:r>
            <a:r>
              <a:rPr sz="2050" spc="65" dirty="0">
                <a:solidFill>
                  <a:srgbClr val="F5F5DB"/>
                </a:solidFill>
                <a:latin typeface="Verdana"/>
                <a:cs typeface="Verdana"/>
              </a:rPr>
              <a:t> </a:t>
            </a:r>
            <a:r>
              <a:rPr sz="2050" spc="120" dirty="0">
                <a:solidFill>
                  <a:srgbClr val="F5F5DB"/>
                </a:solidFill>
                <a:latin typeface="Verdana"/>
                <a:cs typeface="Verdana"/>
              </a:rPr>
              <a:t>increased</a:t>
            </a:r>
            <a:r>
              <a:rPr sz="2050" spc="60" dirty="0">
                <a:solidFill>
                  <a:srgbClr val="F5F5DB"/>
                </a:solidFill>
                <a:latin typeface="Verdana"/>
                <a:cs typeface="Verdana"/>
              </a:rPr>
              <a:t> </a:t>
            </a:r>
            <a:r>
              <a:rPr sz="2050" spc="85" dirty="0">
                <a:solidFill>
                  <a:srgbClr val="F5F5DB"/>
                </a:solidFill>
                <a:latin typeface="Verdana"/>
                <a:cs typeface="Verdana"/>
              </a:rPr>
              <a:t>delays</a:t>
            </a:r>
            <a:r>
              <a:rPr sz="2050" spc="65" dirty="0">
                <a:solidFill>
                  <a:srgbClr val="F5F5DB"/>
                </a:solidFill>
                <a:latin typeface="Verdana"/>
                <a:cs typeface="Verdana"/>
              </a:rPr>
              <a:t> </a:t>
            </a:r>
            <a:r>
              <a:rPr sz="2050" spc="140" dirty="0">
                <a:solidFill>
                  <a:srgbClr val="F5F5DB"/>
                </a:solidFill>
                <a:latin typeface="Verdana"/>
                <a:cs typeface="Verdana"/>
              </a:rPr>
              <a:t>and</a:t>
            </a:r>
            <a:r>
              <a:rPr sz="2050" spc="65" dirty="0">
                <a:solidFill>
                  <a:srgbClr val="F5F5DB"/>
                </a:solidFill>
                <a:latin typeface="Verdana"/>
                <a:cs typeface="Verdana"/>
              </a:rPr>
              <a:t> </a:t>
            </a:r>
            <a:r>
              <a:rPr sz="2050" spc="90" dirty="0">
                <a:solidFill>
                  <a:srgbClr val="F5F5DB"/>
                </a:solidFill>
                <a:latin typeface="Verdana"/>
                <a:cs typeface="Verdana"/>
              </a:rPr>
              <a:t>inefficiencies. </a:t>
            </a:r>
            <a:r>
              <a:rPr sz="2050" spc="95" dirty="0">
                <a:solidFill>
                  <a:srgbClr val="F5F5DB"/>
                </a:solidFill>
                <a:latin typeface="Verdana"/>
                <a:cs typeface="Verdana"/>
              </a:rPr>
              <a:t>Software-</a:t>
            </a:r>
            <a:r>
              <a:rPr sz="2050" spc="125" dirty="0">
                <a:solidFill>
                  <a:srgbClr val="F5F5DB"/>
                </a:solidFill>
                <a:latin typeface="Verdana"/>
                <a:cs typeface="Verdana"/>
              </a:rPr>
              <a:t>based</a:t>
            </a:r>
            <a:r>
              <a:rPr sz="2050" spc="70" dirty="0">
                <a:solidFill>
                  <a:srgbClr val="F5F5DB"/>
                </a:solidFill>
                <a:latin typeface="Verdana"/>
                <a:cs typeface="Verdana"/>
              </a:rPr>
              <a:t> </a:t>
            </a:r>
            <a:r>
              <a:rPr sz="2050" spc="90" dirty="0">
                <a:solidFill>
                  <a:srgbClr val="F5F5DB"/>
                </a:solidFill>
                <a:latin typeface="Verdana"/>
                <a:cs typeface="Verdana"/>
              </a:rPr>
              <a:t>systems</a:t>
            </a:r>
            <a:r>
              <a:rPr sz="2050" spc="75" dirty="0">
                <a:solidFill>
                  <a:srgbClr val="F5F5DB"/>
                </a:solidFill>
                <a:latin typeface="Verdana"/>
                <a:cs typeface="Verdana"/>
              </a:rPr>
              <a:t> </a:t>
            </a:r>
            <a:r>
              <a:rPr sz="2050" spc="145" dirty="0">
                <a:solidFill>
                  <a:srgbClr val="F5F5DB"/>
                </a:solidFill>
                <a:latin typeface="Verdana"/>
                <a:cs typeface="Verdana"/>
              </a:rPr>
              <a:t>introduce</a:t>
            </a:r>
            <a:r>
              <a:rPr sz="2050" spc="70" dirty="0">
                <a:solidFill>
                  <a:srgbClr val="F5F5DB"/>
                </a:solidFill>
                <a:latin typeface="Verdana"/>
                <a:cs typeface="Verdana"/>
              </a:rPr>
              <a:t> </a:t>
            </a:r>
            <a:r>
              <a:rPr sz="2050" spc="160" dirty="0">
                <a:solidFill>
                  <a:srgbClr val="F5F5DB"/>
                </a:solidFill>
                <a:latin typeface="Verdana"/>
                <a:cs typeface="Verdana"/>
              </a:rPr>
              <a:t>high</a:t>
            </a:r>
            <a:r>
              <a:rPr sz="2050" spc="75" dirty="0">
                <a:solidFill>
                  <a:srgbClr val="F5F5DB"/>
                </a:solidFill>
                <a:latin typeface="Verdana"/>
                <a:cs typeface="Verdana"/>
              </a:rPr>
              <a:t> </a:t>
            </a:r>
            <a:r>
              <a:rPr sz="2050" spc="70" dirty="0">
                <a:solidFill>
                  <a:srgbClr val="F5F5DB"/>
                </a:solidFill>
                <a:latin typeface="Verdana"/>
                <a:cs typeface="Verdana"/>
              </a:rPr>
              <a:t>latency, </a:t>
            </a:r>
            <a:r>
              <a:rPr sz="2050" spc="145" dirty="0">
                <a:solidFill>
                  <a:srgbClr val="F5F5DB"/>
                </a:solidFill>
                <a:latin typeface="Verdana"/>
                <a:cs typeface="Verdana"/>
              </a:rPr>
              <a:t>limiting</a:t>
            </a:r>
            <a:r>
              <a:rPr sz="2050" spc="75" dirty="0">
                <a:solidFill>
                  <a:srgbClr val="F5F5DB"/>
                </a:solidFill>
                <a:latin typeface="Verdana"/>
                <a:cs typeface="Verdana"/>
              </a:rPr>
              <a:t> </a:t>
            </a:r>
            <a:r>
              <a:rPr sz="2050" spc="70" dirty="0">
                <a:solidFill>
                  <a:srgbClr val="F5F5DB"/>
                </a:solidFill>
                <a:latin typeface="Verdana"/>
                <a:cs typeface="Verdana"/>
              </a:rPr>
              <a:t>real-</a:t>
            </a:r>
            <a:r>
              <a:rPr sz="2050" spc="135" dirty="0">
                <a:solidFill>
                  <a:srgbClr val="F5F5DB"/>
                </a:solidFill>
                <a:latin typeface="Verdana"/>
                <a:cs typeface="Verdana"/>
              </a:rPr>
              <a:t>time</a:t>
            </a:r>
            <a:r>
              <a:rPr sz="2050" spc="70" dirty="0">
                <a:solidFill>
                  <a:srgbClr val="F5F5DB"/>
                </a:solidFill>
                <a:latin typeface="Verdana"/>
                <a:cs typeface="Verdana"/>
              </a:rPr>
              <a:t> </a:t>
            </a:r>
            <a:r>
              <a:rPr sz="2050" spc="95" dirty="0">
                <a:solidFill>
                  <a:srgbClr val="F5F5DB"/>
                </a:solidFill>
                <a:latin typeface="Verdana"/>
                <a:cs typeface="Verdana"/>
              </a:rPr>
              <a:t>traffic</a:t>
            </a:r>
            <a:r>
              <a:rPr sz="2050" spc="75" dirty="0">
                <a:solidFill>
                  <a:srgbClr val="F5F5DB"/>
                </a:solidFill>
                <a:latin typeface="Verdana"/>
                <a:cs typeface="Verdana"/>
              </a:rPr>
              <a:t> control.</a:t>
            </a:r>
            <a:endParaRPr sz="2050" dirty="0">
              <a:latin typeface="Verdana"/>
              <a:cs typeface="Verdana"/>
            </a:endParaRPr>
          </a:p>
        </p:txBody>
      </p:sp>
      <p:sp>
        <p:nvSpPr>
          <p:cNvPr id="17" name="object 1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44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5"/>
              </a:spcBef>
            </a:pPr>
            <a:r>
              <a:rPr spc="180" dirty="0"/>
              <a:t>PAGE</a:t>
            </a:r>
            <a:r>
              <a:rPr spc="190" dirty="0"/>
              <a:t> </a:t>
            </a:r>
            <a:r>
              <a:rPr spc="50" dirty="0"/>
              <a:t>1</a:t>
            </a:r>
          </a:p>
        </p:txBody>
      </p:sp>
      <p:sp>
        <p:nvSpPr>
          <p:cNvPr id="18" name="object 18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44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5"/>
              </a:spcBef>
            </a:pPr>
            <a:r>
              <a:rPr spc="50" dirty="0"/>
              <a:t>SILICON</a:t>
            </a:r>
            <a:r>
              <a:rPr spc="180" dirty="0"/>
              <a:t> </a:t>
            </a:r>
            <a:r>
              <a:rPr spc="105" dirty="0"/>
              <a:t>SYNDICATE</a:t>
            </a:r>
          </a:p>
        </p:txBody>
      </p:sp>
      <p:sp>
        <p:nvSpPr>
          <p:cNvPr id="19" name="object 19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44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5"/>
              </a:spcBef>
            </a:pPr>
            <a:r>
              <a:rPr dirty="0"/>
              <a:t>VLSI</a:t>
            </a:r>
            <a:r>
              <a:rPr spc="355" dirty="0"/>
              <a:t> </a:t>
            </a:r>
            <a:r>
              <a:rPr spc="114" dirty="0"/>
              <a:t>DOMAIN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1570B7-E55C-050C-BA05-E843AE8D9E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>
            <a:extLst>
              <a:ext uri="{FF2B5EF4-FFF2-40B4-BE49-F238E27FC236}">
                <a16:creationId xmlns:a16="http://schemas.microsoft.com/office/drawing/2014/main" id="{702E8D50-176C-B845-2144-C765FD1185F6}"/>
              </a:ext>
            </a:extLst>
          </p:cNvPr>
          <p:cNvSpPr/>
          <p:nvPr/>
        </p:nvSpPr>
        <p:spPr>
          <a:xfrm>
            <a:off x="0" y="2109831"/>
            <a:ext cx="18288000" cy="8203569"/>
          </a:xfrm>
          <a:custGeom>
            <a:avLst/>
            <a:gdLst/>
            <a:ahLst/>
            <a:cxnLst/>
            <a:rect l="l" t="t" r="r" b="b"/>
            <a:pathLst>
              <a:path w="18288000" h="6534784">
                <a:moveTo>
                  <a:pt x="873848" y="5710567"/>
                </a:moveTo>
                <a:lnTo>
                  <a:pt x="0" y="5710567"/>
                </a:lnTo>
                <a:lnTo>
                  <a:pt x="0" y="6534772"/>
                </a:lnTo>
                <a:lnTo>
                  <a:pt x="873848" y="6534772"/>
                </a:lnTo>
                <a:lnTo>
                  <a:pt x="873848" y="5710567"/>
                </a:lnTo>
                <a:close/>
              </a:path>
              <a:path w="18288000" h="6534784">
                <a:moveTo>
                  <a:pt x="18287988" y="5692191"/>
                </a:moveTo>
                <a:lnTo>
                  <a:pt x="17411688" y="5692191"/>
                </a:lnTo>
                <a:lnTo>
                  <a:pt x="17411688" y="6534772"/>
                </a:lnTo>
                <a:lnTo>
                  <a:pt x="18287988" y="6534772"/>
                </a:lnTo>
                <a:lnTo>
                  <a:pt x="18287988" y="5692191"/>
                </a:lnTo>
                <a:close/>
              </a:path>
              <a:path w="18288000" h="6534784">
                <a:moveTo>
                  <a:pt x="18287988" y="0"/>
                </a:moveTo>
                <a:lnTo>
                  <a:pt x="2705" y="0"/>
                </a:lnTo>
                <a:lnTo>
                  <a:pt x="2705" y="5692140"/>
                </a:lnTo>
                <a:lnTo>
                  <a:pt x="18287988" y="5692140"/>
                </a:lnTo>
                <a:lnTo>
                  <a:pt x="18287988" y="0"/>
                </a:lnTo>
                <a:close/>
              </a:path>
            </a:pathLst>
          </a:custGeom>
          <a:solidFill>
            <a:srgbClr val="00C3CC"/>
          </a:solidFill>
        </p:spPr>
        <p:txBody>
          <a:bodyPr wrap="square" lIns="0" tIns="0" rIns="0" bIns="0" rtlCol="0"/>
          <a:lstStyle/>
          <a:p>
            <a:r>
              <a:rPr lang="en-IN" b="1" dirty="0"/>
              <a:t>Our solution:</a:t>
            </a:r>
            <a:r>
              <a:rPr lang="en-IN" dirty="0"/>
              <a:t> Pure hardware FSM (finite state machine) running on FPGA.</a:t>
            </a:r>
          </a:p>
          <a:p>
            <a:r>
              <a:rPr lang="en-IN" dirty="0"/>
              <a:t>No CPU, no OS, no software overhead → </a:t>
            </a:r>
            <a:r>
              <a:rPr lang="en-IN" b="1" dirty="0"/>
              <a:t>nanosecond‑level responsiveness</a:t>
            </a:r>
            <a:r>
              <a:rPr lang="en-IN" dirty="0"/>
              <a:t>.</a:t>
            </a:r>
          </a:p>
          <a:p>
            <a:r>
              <a:rPr lang="en-IN" dirty="0"/>
              <a:t>State transitions and timer countdown happen </a:t>
            </a:r>
            <a:r>
              <a:rPr lang="en-IN" b="1" dirty="0"/>
              <a:t>in parallel</a:t>
            </a:r>
            <a:r>
              <a:rPr lang="en-IN" dirty="0"/>
              <a:t> on dedicated logic.</a:t>
            </a:r>
          </a:p>
          <a:p>
            <a:r>
              <a:rPr lang="en-IN" dirty="0"/>
              <a:t>Result: </a:t>
            </a:r>
            <a:r>
              <a:rPr lang="en-IN" b="1" dirty="0"/>
              <a:t>Zero latency</a:t>
            </a:r>
            <a:r>
              <a:rPr lang="en-IN" dirty="0"/>
              <a:t> between sensor input (emergency button) and light change</a:t>
            </a:r>
          </a:p>
          <a:p>
            <a:endParaRPr lang="en-IN" dirty="0"/>
          </a:p>
          <a:p>
            <a:r>
              <a:rPr lang="en-US" dirty="0"/>
              <a:t>Emergency inputs </a:t>
            </a:r>
            <a:r>
              <a:rPr lang="en-US" dirty="0">
                <a:solidFill>
                  <a:schemeClr val="bg1"/>
                </a:solidFill>
              </a:rPr>
              <a:t>(</a:t>
            </a:r>
            <a:r>
              <a:rPr lang="en-US" dirty="0" err="1">
                <a:solidFill>
                  <a:schemeClr val="bg1"/>
                </a:solidFill>
              </a:rPr>
              <a:t>emergency_force_red</a:t>
            </a:r>
            <a:r>
              <a:rPr lang="en-US" dirty="0">
                <a:solidFill>
                  <a:schemeClr val="bg1"/>
                </a:solidFill>
              </a:rPr>
              <a:t>, </a:t>
            </a:r>
            <a:r>
              <a:rPr lang="en-US" dirty="0" err="1">
                <a:solidFill>
                  <a:schemeClr val="bg1"/>
                </a:solidFill>
              </a:rPr>
              <a:t>emergency_green</a:t>
            </a:r>
            <a:r>
              <a:rPr lang="en-US" dirty="0">
                <a:solidFill>
                  <a:schemeClr val="bg1"/>
                </a:solidFill>
              </a:rPr>
              <a:t>_*) </a:t>
            </a:r>
            <a:r>
              <a:rPr lang="en-US" dirty="0"/>
              <a:t>are </a:t>
            </a:r>
            <a:r>
              <a:rPr lang="en-US" b="1" dirty="0"/>
              <a:t>combinational</a:t>
            </a:r>
            <a:r>
              <a:rPr lang="en-US" dirty="0"/>
              <a:t> – they override state immediately.</a:t>
            </a:r>
          </a:p>
          <a:p>
            <a:r>
              <a:rPr lang="en-US" dirty="0"/>
              <a:t>The FSM </a:t>
            </a:r>
            <a:r>
              <a:rPr lang="en-US" b="1" dirty="0"/>
              <a:t>freezes timer</a:t>
            </a:r>
            <a:r>
              <a:rPr lang="en-US" dirty="0"/>
              <a:t> during emergencies and resumes exactly where it left off (soft reset).</a:t>
            </a:r>
          </a:p>
          <a:p>
            <a:r>
              <a:rPr lang="en-US" dirty="0"/>
              <a:t>Decision is made </a:t>
            </a:r>
            <a:r>
              <a:rPr lang="en-US" b="1" dirty="0"/>
              <a:t>inside hardware</a:t>
            </a:r>
            <a:r>
              <a:rPr lang="en-US" dirty="0"/>
              <a:t> at the speed of logic gates.</a:t>
            </a:r>
          </a:p>
          <a:p>
            <a:endParaRPr lang="en-US" dirty="0"/>
          </a:p>
          <a:p>
            <a:r>
              <a:rPr lang="en-IN" b="1" dirty="0"/>
              <a:t>Wrong‑way / rule‑breaking ambulance</a:t>
            </a:r>
            <a:r>
              <a:rPr lang="en-IN" dirty="0"/>
              <a:t> → </a:t>
            </a:r>
            <a:r>
              <a:rPr lang="en-IN" dirty="0" err="1"/>
              <a:t>emergency_force_red</a:t>
            </a:r>
            <a:r>
              <a:rPr lang="en-IN" dirty="0"/>
              <a:t> → ALL RED + timer freeze.</a:t>
            </a:r>
          </a:p>
          <a:p>
            <a:r>
              <a:rPr lang="en-IN" b="1" dirty="0"/>
              <a:t>Normal ambulance (correct direction)</a:t>
            </a:r>
            <a:r>
              <a:rPr lang="en-IN" dirty="0"/>
              <a:t> → </a:t>
            </a:r>
            <a:r>
              <a:rPr lang="en-IN" dirty="0" err="1"/>
              <a:t>emergency_green</a:t>
            </a:r>
            <a:r>
              <a:rPr lang="en-IN" dirty="0"/>
              <a:t>_&lt;</a:t>
            </a:r>
            <a:r>
              <a:rPr lang="en-IN" dirty="0" err="1"/>
              <a:t>dir</a:t>
            </a:r>
            <a:r>
              <a:rPr lang="en-IN" dirty="0"/>
              <a:t>&gt; → that direction gets </a:t>
            </a:r>
            <a:r>
              <a:rPr lang="en-IN" b="1" dirty="0"/>
              <a:t>immediate GREEN</a:t>
            </a:r>
            <a:r>
              <a:rPr lang="en-IN" dirty="0"/>
              <a:t>, all others RED.</a:t>
            </a:r>
          </a:p>
          <a:p>
            <a:r>
              <a:rPr lang="en-IN" b="1" dirty="0"/>
              <a:t>Soft reset</a:t>
            </a:r>
            <a:r>
              <a:rPr lang="en-IN" dirty="0"/>
              <a:t> restores normal cycle after emergency passes</a:t>
            </a:r>
          </a:p>
          <a:p>
            <a:endParaRPr lang="en-IN" dirty="0"/>
          </a:p>
          <a:p>
            <a:r>
              <a:rPr lang="en-US" dirty="0"/>
              <a:t>All 12 traffic states + pedestrian phases + emergency preemption run </a:t>
            </a:r>
            <a:r>
              <a:rPr lang="en-US" b="1" dirty="0"/>
              <a:t>on one hardware module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b="1" dirty="0"/>
              <a:t>Emergency vehicles</a:t>
            </a:r>
            <a:r>
              <a:rPr lang="en-US" dirty="0"/>
              <a:t> get instant green or all‑red – reduces response time by </a:t>
            </a:r>
            <a:r>
              <a:rPr lang="en-US" b="1" dirty="0"/>
              <a:t>avoiding waiting at red lights</a:t>
            </a:r>
            <a:r>
              <a:rPr lang="en-US" dirty="0"/>
              <a:t>.</a:t>
            </a:r>
          </a:p>
          <a:p>
            <a:r>
              <a:rPr lang="en-US" b="1" dirty="0"/>
              <a:t>Commuters</a:t>
            </a:r>
            <a:r>
              <a:rPr lang="en-US" dirty="0"/>
              <a:t> benefit from predictable timing and quick return to normal operation after emergency (soft reset).</a:t>
            </a:r>
          </a:p>
          <a:p>
            <a:r>
              <a:rPr lang="en-US" b="1" dirty="0"/>
              <a:t>Hard reset</a:t>
            </a:r>
            <a:r>
              <a:rPr lang="en-US" dirty="0"/>
              <a:t> available for complete system refresh if needed.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</p:txBody>
      </p:sp>
      <p:sp>
        <p:nvSpPr>
          <p:cNvPr id="11" name="object 11" descr="$PPTXTitle">
            <a:extLst>
              <a:ext uri="{FF2B5EF4-FFF2-40B4-BE49-F238E27FC236}">
                <a16:creationId xmlns:a16="http://schemas.microsoft.com/office/drawing/2014/main" id="{352B3CA8-7DA9-370B-B925-BDF85D76EBB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06554" y="206174"/>
            <a:ext cx="10085245" cy="627736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en-US" sz="4000" b="1" spc="160" dirty="0">
                <a:latin typeface="Tahoma"/>
                <a:cs typeface="Tahoma"/>
              </a:rPr>
              <a:t>Our Approach to solve </a:t>
            </a:r>
            <a:endParaRPr sz="4000" dirty="0">
              <a:latin typeface="Tahoma"/>
              <a:cs typeface="Tahoma"/>
            </a:endParaRPr>
          </a:p>
        </p:txBody>
      </p:sp>
      <p:sp>
        <p:nvSpPr>
          <p:cNvPr id="17" name="object 17">
            <a:extLst>
              <a:ext uri="{FF2B5EF4-FFF2-40B4-BE49-F238E27FC236}">
                <a16:creationId xmlns:a16="http://schemas.microsoft.com/office/drawing/2014/main" id="{FB344AD3-AC1C-4AAD-FA69-658D3E982CA8}"/>
              </a:ext>
            </a:extLst>
          </p:cNvPr>
          <p:cNvSpPr txBox="1">
            <a:spLocks noGrp="1"/>
          </p:cNvSpPr>
          <p:nvPr>
            <p:ph type="sldNum" sz="quarter" idx="7"/>
          </p:nvPr>
        </p:nvSpPr>
        <p:spPr>
          <a:xfrm>
            <a:off x="15868257" y="9678636"/>
            <a:ext cx="1120775" cy="312265"/>
          </a:xfrm>
          <a:prstGeom prst="rect">
            <a:avLst/>
          </a:prstGeom>
        </p:spPr>
        <p:txBody>
          <a:bodyPr vert="horz" wrap="square" lIns="0" tIns="44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5"/>
              </a:spcBef>
            </a:pPr>
            <a:r>
              <a:rPr spc="180" dirty="0"/>
              <a:t>PAGE</a:t>
            </a:r>
            <a:r>
              <a:rPr spc="190" dirty="0"/>
              <a:t> </a:t>
            </a:r>
            <a:r>
              <a:rPr lang="en-IN" spc="50" dirty="0"/>
              <a:t>2</a:t>
            </a:r>
            <a:endParaRPr spc="50" dirty="0"/>
          </a:p>
        </p:txBody>
      </p:sp>
      <p:sp>
        <p:nvSpPr>
          <p:cNvPr id="18" name="object 18">
            <a:extLst>
              <a:ext uri="{FF2B5EF4-FFF2-40B4-BE49-F238E27FC236}">
                <a16:creationId xmlns:a16="http://schemas.microsoft.com/office/drawing/2014/main" id="{1B5E8044-F47A-4BBC-642B-66BF930E0C56}"/>
              </a:ext>
            </a:extLst>
          </p:cNvPr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44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5"/>
              </a:spcBef>
            </a:pPr>
            <a:r>
              <a:rPr spc="50" dirty="0"/>
              <a:t>SILICON</a:t>
            </a:r>
            <a:r>
              <a:rPr spc="180" dirty="0"/>
              <a:t> </a:t>
            </a:r>
            <a:r>
              <a:rPr spc="105" dirty="0"/>
              <a:t>SYNDICATE</a:t>
            </a:r>
          </a:p>
        </p:txBody>
      </p:sp>
      <p:sp>
        <p:nvSpPr>
          <p:cNvPr id="19" name="object 19">
            <a:extLst>
              <a:ext uri="{FF2B5EF4-FFF2-40B4-BE49-F238E27FC236}">
                <a16:creationId xmlns:a16="http://schemas.microsoft.com/office/drawing/2014/main" id="{179BF195-8033-7391-8E8A-0123B53710A3}"/>
              </a:ext>
            </a:extLst>
          </p:cNvPr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44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5"/>
              </a:spcBef>
            </a:pPr>
            <a:r>
              <a:rPr dirty="0"/>
              <a:t>VLSI</a:t>
            </a:r>
            <a:r>
              <a:rPr spc="355" dirty="0"/>
              <a:t> </a:t>
            </a:r>
            <a:r>
              <a:rPr spc="114" dirty="0"/>
              <a:t>DOMAIN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1FF1A662-1B74-B821-E0DD-EF332795CBB6}"/>
              </a:ext>
            </a:extLst>
          </p:cNvPr>
          <p:cNvSpPr txBox="1"/>
          <p:nvPr/>
        </p:nvSpPr>
        <p:spPr>
          <a:xfrm>
            <a:off x="253277" y="847947"/>
            <a:ext cx="17781446" cy="12618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400"/>
              </a:lnSpc>
              <a:spcBef>
                <a:spcPts val="2400"/>
              </a:spcBef>
              <a:spcAft>
                <a:spcPts val="1200"/>
              </a:spcAft>
              <a:buNone/>
            </a:pPr>
            <a:r>
              <a:rPr lang="en-US" b="1" dirty="0">
                <a:solidFill>
                  <a:srgbClr val="F9FAFB"/>
                </a:solidFill>
                <a:effectLst/>
                <a:latin typeface="quote-cjk-patch"/>
              </a:rPr>
              <a:t>Our Solution: FPGA‑Based Adaptive Traffic Controller with Emergency Preemption</a:t>
            </a:r>
          </a:p>
          <a:p>
            <a:pPr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b="0" i="0" dirty="0">
                <a:solidFill>
                  <a:srgbClr val="F9FAFB"/>
                </a:solidFill>
                <a:effectLst/>
                <a:latin typeface="quote-cjk-patch"/>
              </a:rPr>
              <a:t>We have designed a </a:t>
            </a:r>
            <a:r>
              <a:rPr lang="en-US" b="1" i="0" dirty="0">
                <a:solidFill>
                  <a:srgbClr val="F9FAFB"/>
                </a:solidFill>
                <a:effectLst/>
                <a:latin typeface="quote-cjk-patch"/>
              </a:rPr>
              <a:t>real‑time, hardware‑only traffic signal controller</a:t>
            </a:r>
            <a:r>
              <a:rPr lang="en-US" b="0" i="0" dirty="0">
                <a:solidFill>
                  <a:srgbClr val="F9FAFB"/>
                </a:solidFill>
                <a:effectLst/>
                <a:latin typeface="quote-cjk-patch"/>
              </a:rPr>
              <a:t> that eliminates software latency, provides deterministic timing, and gives </a:t>
            </a:r>
            <a:r>
              <a:rPr lang="en-US" b="1" i="0" dirty="0">
                <a:solidFill>
                  <a:srgbClr val="F9FAFB"/>
                </a:solidFill>
                <a:effectLst/>
                <a:latin typeface="quote-cjk-patch"/>
              </a:rPr>
              <a:t>instant priority to emergency vehicles</a:t>
            </a:r>
            <a:r>
              <a:rPr lang="en-US" b="0" i="0" dirty="0">
                <a:solidFill>
                  <a:srgbClr val="F9FAFB"/>
                </a:solidFill>
                <a:effectLst/>
                <a:latin typeface="quote-cjk-patch"/>
              </a:rPr>
              <a:t> – all while retaining pedestrian crossing periods.</a:t>
            </a:r>
          </a:p>
        </p:txBody>
      </p:sp>
    </p:spTree>
    <p:extLst>
      <p:ext uri="{BB962C8B-B14F-4D97-AF65-F5344CB8AC3E}">
        <p14:creationId xmlns:p14="http://schemas.microsoft.com/office/powerpoint/2010/main" val="123771501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3752228"/>
            <a:ext cx="18288000" cy="6534784"/>
            <a:chOff x="0" y="3752228"/>
            <a:chExt cx="18288000" cy="6534784"/>
          </a:xfrm>
        </p:grpSpPr>
        <p:sp>
          <p:nvSpPr>
            <p:cNvPr id="3" name="object 3"/>
            <p:cNvSpPr/>
            <p:nvPr/>
          </p:nvSpPr>
          <p:spPr>
            <a:xfrm>
              <a:off x="0" y="3752239"/>
              <a:ext cx="18288000" cy="6534784"/>
            </a:xfrm>
            <a:custGeom>
              <a:avLst/>
              <a:gdLst/>
              <a:ahLst/>
              <a:cxnLst/>
              <a:rect l="l" t="t" r="r" b="b"/>
              <a:pathLst>
                <a:path w="18288000" h="6534784">
                  <a:moveTo>
                    <a:pt x="873848" y="5710567"/>
                  </a:moveTo>
                  <a:lnTo>
                    <a:pt x="0" y="5710567"/>
                  </a:lnTo>
                  <a:lnTo>
                    <a:pt x="0" y="6534772"/>
                  </a:lnTo>
                  <a:lnTo>
                    <a:pt x="873848" y="6534772"/>
                  </a:lnTo>
                  <a:lnTo>
                    <a:pt x="873848" y="5710567"/>
                  </a:lnTo>
                  <a:close/>
                </a:path>
                <a:path w="18288000" h="6534784">
                  <a:moveTo>
                    <a:pt x="18285587" y="0"/>
                  </a:moveTo>
                  <a:lnTo>
                    <a:pt x="292" y="0"/>
                  </a:lnTo>
                  <a:lnTo>
                    <a:pt x="292" y="5692140"/>
                  </a:lnTo>
                  <a:lnTo>
                    <a:pt x="18285587" y="5692140"/>
                  </a:lnTo>
                  <a:lnTo>
                    <a:pt x="18285587" y="0"/>
                  </a:lnTo>
                  <a:close/>
                </a:path>
                <a:path w="18288000" h="6534784">
                  <a:moveTo>
                    <a:pt x="18287988" y="5692191"/>
                  </a:moveTo>
                  <a:lnTo>
                    <a:pt x="17411688" y="5692191"/>
                  </a:lnTo>
                  <a:lnTo>
                    <a:pt x="17411688" y="6534772"/>
                  </a:lnTo>
                  <a:lnTo>
                    <a:pt x="18287988" y="6534772"/>
                  </a:lnTo>
                  <a:lnTo>
                    <a:pt x="18287988" y="5692191"/>
                  </a:lnTo>
                  <a:close/>
                </a:path>
              </a:pathLst>
            </a:custGeom>
            <a:solidFill>
              <a:srgbClr val="00C3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21499" y="3896658"/>
              <a:ext cx="104775" cy="104774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21499" y="4325283"/>
              <a:ext cx="104775" cy="104774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21499" y="4753908"/>
              <a:ext cx="104775" cy="104774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21499" y="5182533"/>
              <a:ext cx="104775" cy="104774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21499" y="5611158"/>
              <a:ext cx="104775" cy="104774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21499" y="6039783"/>
              <a:ext cx="104775" cy="104774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21499" y="6468408"/>
              <a:ext cx="104775" cy="104774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21499" y="6897033"/>
              <a:ext cx="104775" cy="104774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21499" y="7325658"/>
              <a:ext cx="104775" cy="104774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21499" y="7754283"/>
              <a:ext cx="104775" cy="104774"/>
            </a:xfrm>
            <a:prstGeom prst="rect">
              <a:avLst/>
            </a:prstGeom>
          </p:spPr>
        </p:pic>
      </p:grpSp>
      <p:pic>
        <p:nvPicPr>
          <p:cNvPr id="14" name="object 1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21499" y="1724958"/>
            <a:ext cx="104775" cy="104774"/>
          </a:xfrm>
          <a:prstGeom prst="rect">
            <a:avLst/>
          </a:prstGeom>
        </p:spPr>
      </p:pic>
      <p:pic>
        <p:nvPicPr>
          <p:cNvPr id="15" name="object 1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21499" y="2153583"/>
            <a:ext cx="104775" cy="104774"/>
          </a:xfrm>
          <a:prstGeom prst="rect">
            <a:avLst/>
          </a:prstGeom>
        </p:spPr>
      </p:pic>
      <p:pic>
        <p:nvPicPr>
          <p:cNvPr id="16" name="object 1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750074" y="2601258"/>
            <a:ext cx="114300" cy="114299"/>
          </a:xfrm>
          <a:prstGeom prst="rect">
            <a:avLst/>
          </a:prstGeom>
        </p:spPr>
      </p:pic>
      <p:pic>
        <p:nvPicPr>
          <p:cNvPr id="17" name="object 1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21499" y="3039408"/>
            <a:ext cx="104775" cy="104774"/>
          </a:xfrm>
          <a:prstGeom prst="rect">
            <a:avLst/>
          </a:prstGeom>
        </p:spPr>
      </p:pic>
      <p:pic>
        <p:nvPicPr>
          <p:cNvPr id="18" name="object 18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21499" y="3468033"/>
            <a:ext cx="104775" cy="104774"/>
          </a:xfrm>
          <a:prstGeom prst="rect">
            <a:avLst/>
          </a:prstGeom>
        </p:spPr>
      </p:pic>
      <p:grpSp>
        <p:nvGrpSpPr>
          <p:cNvPr id="20" name="object 20"/>
          <p:cNvGrpSpPr/>
          <p:nvPr/>
        </p:nvGrpSpPr>
        <p:grpSpPr>
          <a:xfrm>
            <a:off x="721499" y="8182908"/>
            <a:ext cx="104775" cy="1819274"/>
            <a:chOff x="721499" y="8182908"/>
            <a:chExt cx="104775" cy="1819274"/>
          </a:xfrm>
        </p:grpSpPr>
        <p:pic>
          <p:nvPicPr>
            <p:cNvPr id="21" name="object 21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21499" y="8182908"/>
              <a:ext cx="104775" cy="104774"/>
            </a:xfrm>
            <a:prstGeom prst="rect">
              <a:avLst/>
            </a:prstGeom>
          </p:spPr>
        </p:pic>
        <p:pic>
          <p:nvPicPr>
            <p:cNvPr id="22" name="object 22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21499" y="8611533"/>
              <a:ext cx="104775" cy="104774"/>
            </a:xfrm>
            <a:prstGeom prst="rect">
              <a:avLst/>
            </a:prstGeom>
          </p:spPr>
        </p:pic>
        <p:pic>
          <p:nvPicPr>
            <p:cNvPr id="23" name="object 2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21499" y="9040158"/>
              <a:ext cx="104775" cy="104774"/>
            </a:xfrm>
            <a:prstGeom prst="rect">
              <a:avLst/>
            </a:prstGeom>
          </p:spPr>
        </p:pic>
        <p:pic>
          <p:nvPicPr>
            <p:cNvPr id="24" name="object 24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721499" y="9468783"/>
              <a:ext cx="104775" cy="104774"/>
            </a:xfrm>
            <a:prstGeom prst="rect">
              <a:avLst/>
            </a:prstGeom>
          </p:spPr>
        </p:pic>
        <p:pic>
          <p:nvPicPr>
            <p:cNvPr id="25" name="object 2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721499" y="9897408"/>
              <a:ext cx="104775" cy="104774"/>
            </a:xfrm>
            <a:prstGeom prst="rect">
              <a:avLst/>
            </a:prstGeom>
          </p:spPr>
        </p:pic>
      </p:grpSp>
      <p:sp>
        <p:nvSpPr>
          <p:cNvPr id="27" name="object 27" descr="$PPTXTitle"/>
          <p:cNvSpPr txBox="1">
            <a:spLocks noGrp="1"/>
          </p:cNvSpPr>
          <p:nvPr>
            <p:ph type="title"/>
          </p:nvPr>
        </p:nvSpPr>
        <p:spPr>
          <a:xfrm>
            <a:off x="506555" y="244274"/>
            <a:ext cx="13285645" cy="78162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5000" b="1" spc="-1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ARCHITECTURE</a:t>
            </a:r>
            <a:r>
              <a:rPr lang="en-IN" sz="5000" b="1" spc="-1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FSM MODEL DESIGN </a:t>
            </a:r>
            <a:endParaRPr sz="5000" b="1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28" name="object 2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44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5"/>
              </a:spcBef>
            </a:pPr>
            <a:r>
              <a:rPr spc="180" dirty="0"/>
              <a:t>PAGE</a:t>
            </a:r>
            <a:r>
              <a:rPr spc="190" dirty="0"/>
              <a:t> </a:t>
            </a:r>
            <a:r>
              <a:rPr spc="50" dirty="0"/>
              <a:t>2</a:t>
            </a:r>
          </a:p>
        </p:txBody>
      </p:sp>
      <p:sp>
        <p:nvSpPr>
          <p:cNvPr id="29" name="object 29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44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5"/>
              </a:spcBef>
            </a:pPr>
            <a:r>
              <a:rPr spc="50" dirty="0"/>
              <a:t>SILICON</a:t>
            </a:r>
            <a:r>
              <a:rPr spc="180" dirty="0"/>
              <a:t> </a:t>
            </a:r>
            <a:r>
              <a:rPr spc="105" dirty="0"/>
              <a:t>SYNDICATE</a:t>
            </a:r>
          </a:p>
        </p:txBody>
      </p:sp>
      <p:sp>
        <p:nvSpPr>
          <p:cNvPr id="30" name="object 30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44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5"/>
              </a:spcBef>
            </a:pPr>
            <a:r>
              <a:rPr dirty="0"/>
              <a:t>VLSI</a:t>
            </a:r>
            <a:r>
              <a:rPr spc="355" dirty="0"/>
              <a:t> </a:t>
            </a:r>
            <a:r>
              <a:rPr spc="114" dirty="0"/>
              <a:t>DOMAIN</a:t>
            </a:r>
          </a:p>
        </p:txBody>
      </p:sp>
      <p:pic>
        <p:nvPicPr>
          <p:cNvPr id="34" name="Picture 33">
            <a:extLst>
              <a:ext uri="{FF2B5EF4-FFF2-40B4-BE49-F238E27FC236}">
                <a16:creationId xmlns:a16="http://schemas.microsoft.com/office/drawing/2014/main" id="{71956085-9E2B-E1A6-96EA-20EC9A039A7E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30574" t="1018" r="30833" b="22584"/>
          <a:stretch>
            <a:fillRect/>
          </a:stretch>
        </p:blipFill>
        <p:spPr>
          <a:xfrm>
            <a:off x="540674" y="1205330"/>
            <a:ext cx="16997252" cy="9081675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324832-5DC8-0219-C287-A3A5788135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>
            <a:extLst>
              <a:ext uri="{FF2B5EF4-FFF2-40B4-BE49-F238E27FC236}">
                <a16:creationId xmlns:a16="http://schemas.microsoft.com/office/drawing/2014/main" id="{BF4EFB7D-3AAB-8A12-7347-754E593035FA}"/>
              </a:ext>
            </a:extLst>
          </p:cNvPr>
          <p:cNvGrpSpPr/>
          <p:nvPr/>
        </p:nvGrpSpPr>
        <p:grpSpPr>
          <a:xfrm>
            <a:off x="0" y="3752228"/>
            <a:ext cx="18288000" cy="6534784"/>
            <a:chOff x="0" y="3752228"/>
            <a:chExt cx="18288000" cy="6534784"/>
          </a:xfrm>
        </p:grpSpPr>
        <p:sp>
          <p:nvSpPr>
            <p:cNvPr id="3" name="object 3">
              <a:extLst>
                <a:ext uri="{FF2B5EF4-FFF2-40B4-BE49-F238E27FC236}">
                  <a16:creationId xmlns:a16="http://schemas.microsoft.com/office/drawing/2014/main" id="{DC51E6EC-8968-ACA7-67CA-D1DF51131E9C}"/>
                </a:ext>
              </a:extLst>
            </p:cNvPr>
            <p:cNvSpPr/>
            <p:nvPr/>
          </p:nvSpPr>
          <p:spPr>
            <a:xfrm>
              <a:off x="0" y="3752239"/>
              <a:ext cx="18288000" cy="6534784"/>
            </a:xfrm>
            <a:custGeom>
              <a:avLst/>
              <a:gdLst/>
              <a:ahLst/>
              <a:cxnLst/>
              <a:rect l="l" t="t" r="r" b="b"/>
              <a:pathLst>
                <a:path w="18288000" h="6534784">
                  <a:moveTo>
                    <a:pt x="873848" y="5710567"/>
                  </a:moveTo>
                  <a:lnTo>
                    <a:pt x="0" y="5710567"/>
                  </a:lnTo>
                  <a:lnTo>
                    <a:pt x="0" y="6534772"/>
                  </a:lnTo>
                  <a:lnTo>
                    <a:pt x="873848" y="6534772"/>
                  </a:lnTo>
                  <a:lnTo>
                    <a:pt x="873848" y="5710567"/>
                  </a:lnTo>
                  <a:close/>
                </a:path>
                <a:path w="18288000" h="6534784">
                  <a:moveTo>
                    <a:pt x="18285587" y="0"/>
                  </a:moveTo>
                  <a:lnTo>
                    <a:pt x="292" y="0"/>
                  </a:lnTo>
                  <a:lnTo>
                    <a:pt x="292" y="5692140"/>
                  </a:lnTo>
                  <a:lnTo>
                    <a:pt x="18285587" y="5692140"/>
                  </a:lnTo>
                  <a:lnTo>
                    <a:pt x="18285587" y="0"/>
                  </a:lnTo>
                  <a:close/>
                </a:path>
                <a:path w="18288000" h="6534784">
                  <a:moveTo>
                    <a:pt x="18287988" y="5692191"/>
                  </a:moveTo>
                  <a:lnTo>
                    <a:pt x="17411688" y="5692191"/>
                  </a:lnTo>
                  <a:lnTo>
                    <a:pt x="17411688" y="6534772"/>
                  </a:lnTo>
                  <a:lnTo>
                    <a:pt x="18287988" y="6534772"/>
                  </a:lnTo>
                  <a:lnTo>
                    <a:pt x="18287988" y="5692191"/>
                  </a:lnTo>
                  <a:close/>
                </a:path>
              </a:pathLst>
            </a:custGeom>
            <a:solidFill>
              <a:srgbClr val="00C3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" name="object 4">
              <a:extLst>
                <a:ext uri="{FF2B5EF4-FFF2-40B4-BE49-F238E27FC236}">
                  <a16:creationId xmlns:a16="http://schemas.microsoft.com/office/drawing/2014/main" id="{870B3FF0-E7D8-8C04-7A17-36FC948AAB75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21499" y="3896658"/>
              <a:ext cx="104775" cy="104774"/>
            </a:xfrm>
            <a:prstGeom prst="rect">
              <a:avLst/>
            </a:prstGeom>
          </p:spPr>
        </p:pic>
        <p:pic>
          <p:nvPicPr>
            <p:cNvPr id="5" name="object 5">
              <a:extLst>
                <a:ext uri="{FF2B5EF4-FFF2-40B4-BE49-F238E27FC236}">
                  <a16:creationId xmlns:a16="http://schemas.microsoft.com/office/drawing/2014/main" id="{D58B8A10-EC00-2505-11A2-B8DCBE6905CA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21499" y="4325283"/>
              <a:ext cx="104775" cy="104774"/>
            </a:xfrm>
            <a:prstGeom prst="rect">
              <a:avLst/>
            </a:prstGeom>
          </p:spPr>
        </p:pic>
        <p:pic>
          <p:nvPicPr>
            <p:cNvPr id="6" name="object 6">
              <a:extLst>
                <a:ext uri="{FF2B5EF4-FFF2-40B4-BE49-F238E27FC236}">
                  <a16:creationId xmlns:a16="http://schemas.microsoft.com/office/drawing/2014/main" id="{1EC73C59-5268-AC07-ACF3-1A7D4B9DEB7A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21499" y="4753908"/>
              <a:ext cx="104775" cy="104774"/>
            </a:xfrm>
            <a:prstGeom prst="rect">
              <a:avLst/>
            </a:prstGeom>
          </p:spPr>
        </p:pic>
        <p:pic>
          <p:nvPicPr>
            <p:cNvPr id="7" name="object 7">
              <a:extLst>
                <a:ext uri="{FF2B5EF4-FFF2-40B4-BE49-F238E27FC236}">
                  <a16:creationId xmlns:a16="http://schemas.microsoft.com/office/drawing/2014/main" id="{4544ACB7-D8C2-3B8D-C9DA-36638CBADC56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21499" y="5182533"/>
              <a:ext cx="104775" cy="104774"/>
            </a:xfrm>
            <a:prstGeom prst="rect">
              <a:avLst/>
            </a:prstGeom>
          </p:spPr>
        </p:pic>
        <p:pic>
          <p:nvPicPr>
            <p:cNvPr id="8" name="object 8">
              <a:extLst>
                <a:ext uri="{FF2B5EF4-FFF2-40B4-BE49-F238E27FC236}">
                  <a16:creationId xmlns:a16="http://schemas.microsoft.com/office/drawing/2014/main" id="{40A93477-E34F-E23B-3090-BBF0FE8671C7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21499" y="5611158"/>
              <a:ext cx="104775" cy="104774"/>
            </a:xfrm>
            <a:prstGeom prst="rect">
              <a:avLst/>
            </a:prstGeom>
          </p:spPr>
        </p:pic>
        <p:pic>
          <p:nvPicPr>
            <p:cNvPr id="9" name="object 9">
              <a:extLst>
                <a:ext uri="{FF2B5EF4-FFF2-40B4-BE49-F238E27FC236}">
                  <a16:creationId xmlns:a16="http://schemas.microsoft.com/office/drawing/2014/main" id="{F33B388C-58B1-91DC-DE0C-8244399D8AC0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21499" y="6039783"/>
              <a:ext cx="104775" cy="104774"/>
            </a:xfrm>
            <a:prstGeom prst="rect">
              <a:avLst/>
            </a:prstGeom>
          </p:spPr>
        </p:pic>
        <p:pic>
          <p:nvPicPr>
            <p:cNvPr id="10" name="object 10">
              <a:extLst>
                <a:ext uri="{FF2B5EF4-FFF2-40B4-BE49-F238E27FC236}">
                  <a16:creationId xmlns:a16="http://schemas.microsoft.com/office/drawing/2014/main" id="{81F9A8C6-3AB4-5489-7D52-A8B9AEF6EAFE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21499" y="6468408"/>
              <a:ext cx="104775" cy="104774"/>
            </a:xfrm>
            <a:prstGeom prst="rect">
              <a:avLst/>
            </a:prstGeom>
          </p:spPr>
        </p:pic>
        <p:pic>
          <p:nvPicPr>
            <p:cNvPr id="11" name="object 11">
              <a:extLst>
                <a:ext uri="{FF2B5EF4-FFF2-40B4-BE49-F238E27FC236}">
                  <a16:creationId xmlns:a16="http://schemas.microsoft.com/office/drawing/2014/main" id="{627C94C9-65B3-E904-1B02-8AFE4869558D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21499" y="6897033"/>
              <a:ext cx="104775" cy="104774"/>
            </a:xfrm>
            <a:prstGeom prst="rect">
              <a:avLst/>
            </a:prstGeom>
          </p:spPr>
        </p:pic>
        <p:pic>
          <p:nvPicPr>
            <p:cNvPr id="12" name="object 12">
              <a:extLst>
                <a:ext uri="{FF2B5EF4-FFF2-40B4-BE49-F238E27FC236}">
                  <a16:creationId xmlns:a16="http://schemas.microsoft.com/office/drawing/2014/main" id="{C0F966FD-2864-E9E1-4003-A5D87BE02714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21499" y="7325658"/>
              <a:ext cx="104775" cy="104774"/>
            </a:xfrm>
            <a:prstGeom prst="rect">
              <a:avLst/>
            </a:prstGeom>
          </p:spPr>
        </p:pic>
        <p:pic>
          <p:nvPicPr>
            <p:cNvPr id="13" name="object 13">
              <a:extLst>
                <a:ext uri="{FF2B5EF4-FFF2-40B4-BE49-F238E27FC236}">
                  <a16:creationId xmlns:a16="http://schemas.microsoft.com/office/drawing/2014/main" id="{E50F0FD9-22AC-06B3-15E1-683759C7D2D7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21499" y="7754283"/>
              <a:ext cx="104775" cy="104774"/>
            </a:xfrm>
            <a:prstGeom prst="rect">
              <a:avLst/>
            </a:prstGeom>
          </p:spPr>
        </p:pic>
      </p:grpSp>
      <p:pic>
        <p:nvPicPr>
          <p:cNvPr id="14" name="object 14">
            <a:extLst>
              <a:ext uri="{FF2B5EF4-FFF2-40B4-BE49-F238E27FC236}">
                <a16:creationId xmlns:a16="http://schemas.microsoft.com/office/drawing/2014/main" id="{EF38EA3E-62B0-C5BC-8178-E54109375446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21499" y="1724958"/>
            <a:ext cx="104775" cy="104774"/>
          </a:xfrm>
          <a:prstGeom prst="rect">
            <a:avLst/>
          </a:prstGeom>
        </p:spPr>
      </p:pic>
      <p:pic>
        <p:nvPicPr>
          <p:cNvPr id="15" name="object 15">
            <a:extLst>
              <a:ext uri="{FF2B5EF4-FFF2-40B4-BE49-F238E27FC236}">
                <a16:creationId xmlns:a16="http://schemas.microsoft.com/office/drawing/2014/main" id="{933B4981-AF9C-9E20-19BD-E0EEBD5BBB8E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21499" y="2153583"/>
            <a:ext cx="104775" cy="104774"/>
          </a:xfrm>
          <a:prstGeom prst="rect">
            <a:avLst/>
          </a:prstGeom>
        </p:spPr>
      </p:pic>
      <p:pic>
        <p:nvPicPr>
          <p:cNvPr id="16" name="object 16">
            <a:extLst>
              <a:ext uri="{FF2B5EF4-FFF2-40B4-BE49-F238E27FC236}">
                <a16:creationId xmlns:a16="http://schemas.microsoft.com/office/drawing/2014/main" id="{20CD191F-0EB9-F2A2-7EB1-C6B242B2D61C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750074" y="2601258"/>
            <a:ext cx="114300" cy="114299"/>
          </a:xfrm>
          <a:prstGeom prst="rect">
            <a:avLst/>
          </a:prstGeom>
        </p:spPr>
      </p:pic>
      <p:pic>
        <p:nvPicPr>
          <p:cNvPr id="17" name="object 17">
            <a:extLst>
              <a:ext uri="{FF2B5EF4-FFF2-40B4-BE49-F238E27FC236}">
                <a16:creationId xmlns:a16="http://schemas.microsoft.com/office/drawing/2014/main" id="{F91418BC-D524-0A5A-7413-181E601BA29A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21499" y="3039408"/>
            <a:ext cx="104775" cy="104774"/>
          </a:xfrm>
          <a:prstGeom prst="rect">
            <a:avLst/>
          </a:prstGeom>
        </p:spPr>
      </p:pic>
      <p:pic>
        <p:nvPicPr>
          <p:cNvPr id="18" name="object 18">
            <a:extLst>
              <a:ext uri="{FF2B5EF4-FFF2-40B4-BE49-F238E27FC236}">
                <a16:creationId xmlns:a16="http://schemas.microsoft.com/office/drawing/2014/main" id="{414FB9AD-8B9C-9B1A-714D-23451FEBDEB1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21499" y="3468033"/>
            <a:ext cx="104775" cy="104774"/>
          </a:xfrm>
          <a:prstGeom prst="rect">
            <a:avLst/>
          </a:prstGeom>
        </p:spPr>
      </p:pic>
      <p:grpSp>
        <p:nvGrpSpPr>
          <p:cNvPr id="20" name="object 20">
            <a:extLst>
              <a:ext uri="{FF2B5EF4-FFF2-40B4-BE49-F238E27FC236}">
                <a16:creationId xmlns:a16="http://schemas.microsoft.com/office/drawing/2014/main" id="{99DC3D84-C601-102D-6EF4-62D4570755D4}"/>
              </a:ext>
            </a:extLst>
          </p:cNvPr>
          <p:cNvGrpSpPr/>
          <p:nvPr/>
        </p:nvGrpSpPr>
        <p:grpSpPr>
          <a:xfrm>
            <a:off x="721499" y="8182908"/>
            <a:ext cx="104775" cy="1819274"/>
            <a:chOff x="721499" y="8182908"/>
            <a:chExt cx="104775" cy="1819274"/>
          </a:xfrm>
        </p:grpSpPr>
        <p:pic>
          <p:nvPicPr>
            <p:cNvPr id="21" name="object 21">
              <a:extLst>
                <a:ext uri="{FF2B5EF4-FFF2-40B4-BE49-F238E27FC236}">
                  <a16:creationId xmlns:a16="http://schemas.microsoft.com/office/drawing/2014/main" id="{70C21F29-2C9F-8FCD-6955-683A855D6E9B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21499" y="8182908"/>
              <a:ext cx="104775" cy="104774"/>
            </a:xfrm>
            <a:prstGeom prst="rect">
              <a:avLst/>
            </a:prstGeom>
          </p:spPr>
        </p:pic>
        <p:pic>
          <p:nvPicPr>
            <p:cNvPr id="22" name="object 22">
              <a:extLst>
                <a:ext uri="{FF2B5EF4-FFF2-40B4-BE49-F238E27FC236}">
                  <a16:creationId xmlns:a16="http://schemas.microsoft.com/office/drawing/2014/main" id="{11E5EF6B-E6AB-2DA9-B328-04FAB3D07A03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21499" y="8611533"/>
              <a:ext cx="104775" cy="104774"/>
            </a:xfrm>
            <a:prstGeom prst="rect">
              <a:avLst/>
            </a:prstGeom>
          </p:spPr>
        </p:pic>
        <p:pic>
          <p:nvPicPr>
            <p:cNvPr id="23" name="object 23">
              <a:extLst>
                <a:ext uri="{FF2B5EF4-FFF2-40B4-BE49-F238E27FC236}">
                  <a16:creationId xmlns:a16="http://schemas.microsoft.com/office/drawing/2014/main" id="{120A0F80-5BD3-56EE-916C-45D055B2B611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21499" y="9040158"/>
              <a:ext cx="104775" cy="104774"/>
            </a:xfrm>
            <a:prstGeom prst="rect">
              <a:avLst/>
            </a:prstGeom>
          </p:spPr>
        </p:pic>
        <p:pic>
          <p:nvPicPr>
            <p:cNvPr id="24" name="object 24">
              <a:extLst>
                <a:ext uri="{FF2B5EF4-FFF2-40B4-BE49-F238E27FC236}">
                  <a16:creationId xmlns:a16="http://schemas.microsoft.com/office/drawing/2014/main" id="{9E120941-921A-176D-6879-7F4521139521}"/>
                </a:ext>
              </a:extLst>
            </p:cNvPr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721499" y="9468783"/>
              <a:ext cx="104775" cy="104774"/>
            </a:xfrm>
            <a:prstGeom prst="rect">
              <a:avLst/>
            </a:prstGeom>
          </p:spPr>
        </p:pic>
        <p:pic>
          <p:nvPicPr>
            <p:cNvPr id="25" name="object 25">
              <a:extLst>
                <a:ext uri="{FF2B5EF4-FFF2-40B4-BE49-F238E27FC236}">
                  <a16:creationId xmlns:a16="http://schemas.microsoft.com/office/drawing/2014/main" id="{BFC3B0BC-F2B2-8BDF-888B-93F97F16799F}"/>
                </a:ext>
              </a:extLst>
            </p:cNvPr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721499" y="9897408"/>
              <a:ext cx="104775" cy="104774"/>
            </a:xfrm>
            <a:prstGeom prst="rect">
              <a:avLst/>
            </a:prstGeom>
          </p:spPr>
        </p:pic>
      </p:grpSp>
      <p:sp>
        <p:nvSpPr>
          <p:cNvPr id="27" name="object 27" descr="$PPTXTitle">
            <a:extLst>
              <a:ext uri="{FF2B5EF4-FFF2-40B4-BE49-F238E27FC236}">
                <a16:creationId xmlns:a16="http://schemas.microsoft.com/office/drawing/2014/main" id="{83C3B3CF-1ACB-5C2A-DA5B-3E5CE055F3F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06555" y="244274"/>
            <a:ext cx="13285645" cy="1120178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3600" b="1" spc="-1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ARCHITECTURE</a:t>
            </a:r>
            <a:r>
              <a:rPr lang="en-IN" sz="3600" b="1" spc="-1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FSM MODEL DESIGN </a:t>
            </a:r>
            <a:br>
              <a:rPr lang="en-IN" sz="3600" b="1" spc="-1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r>
              <a:rPr lang="en-IN" sz="3600" b="1" spc="-1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for Normal Cycles along with Emergency Override </a:t>
            </a:r>
            <a:endParaRPr sz="3600" b="1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28" name="object 28">
            <a:extLst>
              <a:ext uri="{FF2B5EF4-FFF2-40B4-BE49-F238E27FC236}">
                <a16:creationId xmlns:a16="http://schemas.microsoft.com/office/drawing/2014/main" id="{0FE4E10B-75FB-2B40-EF7F-BF3166DA5B3A}"/>
              </a:ext>
            </a:extLst>
          </p:cNvPr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44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5"/>
              </a:spcBef>
            </a:pPr>
            <a:r>
              <a:rPr spc="180" dirty="0"/>
              <a:t>PAGE</a:t>
            </a:r>
            <a:r>
              <a:rPr spc="190" dirty="0"/>
              <a:t> </a:t>
            </a:r>
            <a:r>
              <a:rPr spc="50" dirty="0"/>
              <a:t>2</a:t>
            </a:r>
          </a:p>
        </p:txBody>
      </p:sp>
      <p:sp>
        <p:nvSpPr>
          <p:cNvPr id="29" name="object 29">
            <a:extLst>
              <a:ext uri="{FF2B5EF4-FFF2-40B4-BE49-F238E27FC236}">
                <a16:creationId xmlns:a16="http://schemas.microsoft.com/office/drawing/2014/main" id="{DA41B909-D1EF-64A3-046A-14D334A6C052}"/>
              </a:ext>
            </a:extLst>
          </p:cNvPr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44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5"/>
              </a:spcBef>
            </a:pPr>
            <a:r>
              <a:rPr spc="50" dirty="0"/>
              <a:t>SILICON</a:t>
            </a:r>
            <a:r>
              <a:rPr spc="180" dirty="0"/>
              <a:t> </a:t>
            </a:r>
            <a:r>
              <a:rPr spc="105" dirty="0"/>
              <a:t>SYNDICATE</a:t>
            </a:r>
          </a:p>
        </p:txBody>
      </p:sp>
      <p:sp>
        <p:nvSpPr>
          <p:cNvPr id="30" name="object 30">
            <a:extLst>
              <a:ext uri="{FF2B5EF4-FFF2-40B4-BE49-F238E27FC236}">
                <a16:creationId xmlns:a16="http://schemas.microsoft.com/office/drawing/2014/main" id="{58CA0240-5DEE-96F2-8E5E-856FBF077004}"/>
              </a:ext>
            </a:extLst>
          </p:cNvPr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44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5"/>
              </a:spcBef>
            </a:pPr>
            <a:r>
              <a:rPr dirty="0"/>
              <a:t>VLSI</a:t>
            </a:r>
            <a:r>
              <a:rPr spc="355" dirty="0"/>
              <a:t> </a:t>
            </a:r>
            <a:r>
              <a:rPr spc="114" dirty="0"/>
              <a:t>DOMAIN</a:t>
            </a:r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5B8E5B77-3EC4-E475-5816-0C92E1A41DF8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883" t="16768" b="8569"/>
          <a:stretch>
            <a:fillRect/>
          </a:stretch>
        </p:blipFill>
        <p:spPr>
          <a:xfrm>
            <a:off x="228600" y="1611032"/>
            <a:ext cx="17309326" cy="86759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6135400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3752228"/>
            <a:ext cx="18288000" cy="6534784"/>
            <a:chOff x="0" y="3752228"/>
            <a:chExt cx="18288000" cy="6534784"/>
          </a:xfrm>
        </p:grpSpPr>
        <p:sp>
          <p:nvSpPr>
            <p:cNvPr id="3" name="object 3"/>
            <p:cNvSpPr/>
            <p:nvPr/>
          </p:nvSpPr>
          <p:spPr>
            <a:xfrm>
              <a:off x="0" y="3752239"/>
              <a:ext cx="18288000" cy="6534784"/>
            </a:xfrm>
            <a:custGeom>
              <a:avLst/>
              <a:gdLst/>
              <a:ahLst/>
              <a:cxnLst/>
              <a:rect l="l" t="t" r="r" b="b"/>
              <a:pathLst>
                <a:path w="18288000" h="6534784">
                  <a:moveTo>
                    <a:pt x="873848" y="5710567"/>
                  </a:moveTo>
                  <a:lnTo>
                    <a:pt x="0" y="5710567"/>
                  </a:lnTo>
                  <a:lnTo>
                    <a:pt x="0" y="6534772"/>
                  </a:lnTo>
                  <a:lnTo>
                    <a:pt x="873848" y="6534772"/>
                  </a:lnTo>
                  <a:lnTo>
                    <a:pt x="873848" y="5710567"/>
                  </a:lnTo>
                  <a:close/>
                </a:path>
                <a:path w="18288000" h="6534784">
                  <a:moveTo>
                    <a:pt x="18285587" y="0"/>
                  </a:moveTo>
                  <a:lnTo>
                    <a:pt x="292" y="0"/>
                  </a:lnTo>
                  <a:lnTo>
                    <a:pt x="292" y="5692140"/>
                  </a:lnTo>
                  <a:lnTo>
                    <a:pt x="18285587" y="5692140"/>
                  </a:lnTo>
                  <a:lnTo>
                    <a:pt x="18285587" y="0"/>
                  </a:lnTo>
                  <a:close/>
                </a:path>
                <a:path w="18288000" h="6534784">
                  <a:moveTo>
                    <a:pt x="18287988" y="5692191"/>
                  </a:moveTo>
                  <a:lnTo>
                    <a:pt x="17411688" y="5692191"/>
                  </a:lnTo>
                  <a:lnTo>
                    <a:pt x="17411688" y="6534772"/>
                  </a:lnTo>
                  <a:lnTo>
                    <a:pt x="18287988" y="6534772"/>
                  </a:lnTo>
                  <a:lnTo>
                    <a:pt x="18287988" y="5692191"/>
                  </a:lnTo>
                  <a:close/>
                </a:path>
              </a:pathLst>
            </a:custGeom>
            <a:solidFill>
              <a:srgbClr val="00C3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82845" y="4666152"/>
              <a:ext cx="105016" cy="105016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82845" y="5095765"/>
              <a:ext cx="105016" cy="105016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82845" y="5525378"/>
              <a:ext cx="105016" cy="105016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82845" y="5954990"/>
              <a:ext cx="105016" cy="105016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82845" y="6384603"/>
              <a:ext cx="105016" cy="105016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82845" y="6814215"/>
              <a:ext cx="105016" cy="105016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82845" y="7243828"/>
              <a:ext cx="105016" cy="105016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82845" y="8103053"/>
              <a:ext cx="105016" cy="105016"/>
            </a:xfrm>
            <a:prstGeom prst="rect">
              <a:avLst/>
            </a:prstGeom>
          </p:spPr>
        </p:pic>
      </p:grpSp>
      <p:sp>
        <p:nvSpPr>
          <p:cNvPr id="12" name="object 12" descr="$PPTXTitle"/>
          <p:cNvSpPr txBox="1">
            <a:spLocks noGrp="1"/>
          </p:cNvSpPr>
          <p:nvPr>
            <p:ph type="title"/>
          </p:nvPr>
        </p:nvSpPr>
        <p:spPr>
          <a:xfrm>
            <a:off x="565574" y="209531"/>
            <a:ext cx="17722425" cy="1551066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5000" b="1" spc="-1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Implem</a:t>
            </a:r>
            <a:r>
              <a:rPr lang="en-IN" sz="5000" b="1" spc="-1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e</a:t>
            </a:r>
            <a:r>
              <a:rPr sz="5000" b="1" spc="-1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ntation</a:t>
            </a:r>
            <a:r>
              <a:rPr lang="en-IN" sz="5000" b="1" spc="-1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Flow</a:t>
            </a:r>
            <a:br>
              <a:rPr lang="en-IN" sz="5000" b="1" spc="-1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r>
              <a:rPr lang="en-IN" sz="5000" b="1" spc="-1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Normal Verilog Code + Verilog Testbench </a:t>
            </a:r>
            <a:endParaRPr sz="5000" b="1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pic>
        <p:nvPicPr>
          <p:cNvPr id="13" name="object 13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882845" y="1658864"/>
            <a:ext cx="105016" cy="105016"/>
          </a:xfrm>
          <a:prstGeom prst="rect">
            <a:avLst/>
          </a:prstGeom>
        </p:spPr>
      </p:pic>
      <p:pic>
        <p:nvPicPr>
          <p:cNvPr id="14" name="object 1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882845" y="2088476"/>
            <a:ext cx="105016" cy="105016"/>
          </a:xfrm>
          <a:prstGeom prst="rect">
            <a:avLst/>
          </a:prstGeom>
        </p:spPr>
      </p:pic>
      <p:pic>
        <p:nvPicPr>
          <p:cNvPr id="15" name="object 1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882845" y="2518089"/>
            <a:ext cx="105016" cy="105016"/>
          </a:xfrm>
          <a:prstGeom prst="rect">
            <a:avLst/>
          </a:prstGeom>
        </p:spPr>
      </p:pic>
      <p:pic>
        <p:nvPicPr>
          <p:cNvPr id="16" name="object 1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882845" y="2947702"/>
            <a:ext cx="105016" cy="105016"/>
          </a:xfrm>
          <a:prstGeom prst="rect">
            <a:avLst/>
          </a:prstGeom>
        </p:spPr>
      </p:pic>
      <p:pic>
        <p:nvPicPr>
          <p:cNvPr id="17" name="object 17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882845" y="3377314"/>
            <a:ext cx="105016" cy="105016"/>
          </a:xfrm>
          <a:prstGeom prst="rect">
            <a:avLst/>
          </a:prstGeom>
        </p:spPr>
      </p:pic>
      <p:grpSp>
        <p:nvGrpSpPr>
          <p:cNvPr id="19" name="object 19"/>
          <p:cNvGrpSpPr/>
          <p:nvPr/>
        </p:nvGrpSpPr>
        <p:grpSpPr>
          <a:xfrm>
            <a:off x="882845" y="8532665"/>
            <a:ext cx="105410" cy="534670"/>
            <a:chOff x="882845" y="8532665"/>
            <a:chExt cx="105410" cy="534670"/>
          </a:xfrm>
        </p:grpSpPr>
        <p:pic>
          <p:nvPicPr>
            <p:cNvPr id="20" name="object 20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882845" y="8532665"/>
              <a:ext cx="105016" cy="105016"/>
            </a:xfrm>
            <a:prstGeom prst="rect">
              <a:avLst/>
            </a:prstGeom>
          </p:spPr>
        </p:pic>
        <p:pic>
          <p:nvPicPr>
            <p:cNvPr id="21" name="object 21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82845" y="8962278"/>
              <a:ext cx="105016" cy="105016"/>
            </a:xfrm>
            <a:prstGeom prst="rect">
              <a:avLst/>
            </a:prstGeom>
          </p:spPr>
        </p:pic>
      </p:grpSp>
      <p:sp>
        <p:nvSpPr>
          <p:cNvPr id="23" name="object 23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44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5"/>
              </a:spcBef>
            </a:pPr>
            <a:r>
              <a:rPr spc="180" dirty="0"/>
              <a:t>PAGE</a:t>
            </a:r>
            <a:r>
              <a:rPr spc="190" dirty="0"/>
              <a:t> </a:t>
            </a:r>
            <a:r>
              <a:rPr spc="50" dirty="0"/>
              <a:t>3</a:t>
            </a:r>
          </a:p>
        </p:txBody>
      </p:sp>
      <p:sp>
        <p:nvSpPr>
          <p:cNvPr id="24" name="object 2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44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5"/>
              </a:spcBef>
            </a:pPr>
            <a:r>
              <a:rPr spc="50" dirty="0"/>
              <a:t>SILICON</a:t>
            </a:r>
            <a:r>
              <a:rPr spc="180" dirty="0"/>
              <a:t> </a:t>
            </a:r>
            <a:r>
              <a:rPr spc="105" dirty="0"/>
              <a:t>SYNDICATE</a:t>
            </a:r>
          </a:p>
        </p:txBody>
      </p:sp>
      <p:sp>
        <p:nvSpPr>
          <p:cNvPr id="25" name="object 25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44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5"/>
              </a:spcBef>
            </a:pPr>
            <a:r>
              <a:rPr dirty="0"/>
              <a:t>VLSI</a:t>
            </a:r>
            <a:r>
              <a:rPr spc="355" dirty="0"/>
              <a:t> </a:t>
            </a:r>
            <a:r>
              <a:rPr spc="114" dirty="0"/>
              <a:t>DOMAIN</a:t>
            </a:r>
          </a:p>
        </p:txBody>
      </p:sp>
      <p:pic>
        <p:nvPicPr>
          <p:cNvPr id="27" name="Picture 26">
            <a:extLst>
              <a:ext uri="{FF2B5EF4-FFF2-40B4-BE49-F238E27FC236}">
                <a16:creationId xmlns:a16="http://schemas.microsoft.com/office/drawing/2014/main" id="{C2B12F3F-229C-716D-6B2E-5C9E8D6D275C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r="27916" b="4814"/>
          <a:stretch>
            <a:fillRect/>
          </a:stretch>
        </p:blipFill>
        <p:spPr>
          <a:xfrm>
            <a:off x="565573" y="1736145"/>
            <a:ext cx="16839581" cy="8550855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69B5D9-39AE-95C4-4ED4-2EF0C15DCA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>
            <a:extLst>
              <a:ext uri="{FF2B5EF4-FFF2-40B4-BE49-F238E27FC236}">
                <a16:creationId xmlns:a16="http://schemas.microsoft.com/office/drawing/2014/main" id="{672F1516-56FA-549A-7310-F0BF45E1AAB7}"/>
              </a:ext>
            </a:extLst>
          </p:cNvPr>
          <p:cNvGrpSpPr/>
          <p:nvPr/>
        </p:nvGrpSpPr>
        <p:grpSpPr>
          <a:xfrm>
            <a:off x="0" y="3752228"/>
            <a:ext cx="18288000" cy="6534784"/>
            <a:chOff x="0" y="3752228"/>
            <a:chExt cx="18288000" cy="6534784"/>
          </a:xfrm>
        </p:grpSpPr>
        <p:sp>
          <p:nvSpPr>
            <p:cNvPr id="3" name="object 3">
              <a:extLst>
                <a:ext uri="{FF2B5EF4-FFF2-40B4-BE49-F238E27FC236}">
                  <a16:creationId xmlns:a16="http://schemas.microsoft.com/office/drawing/2014/main" id="{57CB90AD-5714-D4B1-EF87-4333EC351C20}"/>
                </a:ext>
              </a:extLst>
            </p:cNvPr>
            <p:cNvSpPr/>
            <p:nvPr/>
          </p:nvSpPr>
          <p:spPr>
            <a:xfrm>
              <a:off x="0" y="3752239"/>
              <a:ext cx="18288000" cy="6534784"/>
            </a:xfrm>
            <a:custGeom>
              <a:avLst/>
              <a:gdLst/>
              <a:ahLst/>
              <a:cxnLst/>
              <a:rect l="l" t="t" r="r" b="b"/>
              <a:pathLst>
                <a:path w="18288000" h="6534784">
                  <a:moveTo>
                    <a:pt x="873848" y="5710567"/>
                  </a:moveTo>
                  <a:lnTo>
                    <a:pt x="0" y="5710567"/>
                  </a:lnTo>
                  <a:lnTo>
                    <a:pt x="0" y="6534772"/>
                  </a:lnTo>
                  <a:lnTo>
                    <a:pt x="873848" y="6534772"/>
                  </a:lnTo>
                  <a:lnTo>
                    <a:pt x="873848" y="5710567"/>
                  </a:lnTo>
                  <a:close/>
                </a:path>
                <a:path w="18288000" h="6534784">
                  <a:moveTo>
                    <a:pt x="18285587" y="0"/>
                  </a:moveTo>
                  <a:lnTo>
                    <a:pt x="292" y="0"/>
                  </a:lnTo>
                  <a:lnTo>
                    <a:pt x="292" y="5692140"/>
                  </a:lnTo>
                  <a:lnTo>
                    <a:pt x="18285587" y="5692140"/>
                  </a:lnTo>
                  <a:lnTo>
                    <a:pt x="18285587" y="0"/>
                  </a:lnTo>
                  <a:close/>
                </a:path>
                <a:path w="18288000" h="6534784">
                  <a:moveTo>
                    <a:pt x="18287988" y="5692191"/>
                  </a:moveTo>
                  <a:lnTo>
                    <a:pt x="17411688" y="5692191"/>
                  </a:lnTo>
                  <a:lnTo>
                    <a:pt x="17411688" y="6534772"/>
                  </a:lnTo>
                  <a:lnTo>
                    <a:pt x="18287988" y="6534772"/>
                  </a:lnTo>
                  <a:lnTo>
                    <a:pt x="18287988" y="5692191"/>
                  </a:lnTo>
                  <a:close/>
                </a:path>
              </a:pathLst>
            </a:custGeom>
            <a:solidFill>
              <a:srgbClr val="00C3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" name="object 4">
              <a:extLst>
                <a:ext uri="{FF2B5EF4-FFF2-40B4-BE49-F238E27FC236}">
                  <a16:creationId xmlns:a16="http://schemas.microsoft.com/office/drawing/2014/main" id="{482C4E49-2B24-D836-12BD-1B5300272734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82845" y="4666152"/>
              <a:ext cx="105016" cy="105016"/>
            </a:xfrm>
            <a:prstGeom prst="rect">
              <a:avLst/>
            </a:prstGeom>
          </p:spPr>
        </p:pic>
        <p:pic>
          <p:nvPicPr>
            <p:cNvPr id="5" name="object 5">
              <a:extLst>
                <a:ext uri="{FF2B5EF4-FFF2-40B4-BE49-F238E27FC236}">
                  <a16:creationId xmlns:a16="http://schemas.microsoft.com/office/drawing/2014/main" id="{B8F3C406-8100-A269-5AFE-7128C907FD52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82845" y="5095765"/>
              <a:ext cx="105016" cy="105016"/>
            </a:xfrm>
            <a:prstGeom prst="rect">
              <a:avLst/>
            </a:prstGeom>
          </p:spPr>
        </p:pic>
        <p:pic>
          <p:nvPicPr>
            <p:cNvPr id="6" name="object 6">
              <a:extLst>
                <a:ext uri="{FF2B5EF4-FFF2-40B4-BE49-F238E27FC236}">
                  <a16:creationId xmlns:a16="http://schemas.microsoft.com/office/drawing/2014/main" id="{23DA04A9-6A93-C244-CEF6-F809F6C4141B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82845" y="5525378"/>
              <a:ext cx="105016" cy="105016"/>
            </a:xfrm>
            <a:prstGeom prst="rect">
              <a:avLst/>
            </a:prstGeom>
          </p:spPr>
        </p:pic>
        <p:pic>
          <p:nvPicPr>
            <p:cNvPr id="7" name="object 7">
              <a:extLst>
                <a:ext uri="{FF2B5EF4-FFF2-40B4-BE49-F238E27FC236}">
                  <a16:creationId xmlns:a16="http://schemas.microsoft.com/office/drawing/2014/main" id="{9A22993D-DAA3-29F8-76A2-1BFDD2E6DB26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82845" y="5954990"/>
              <a:ext cx="105016" cy="105016"/>
            </a:xfrm>
            <a:prstGeom prst="rect">
              <a:avLst/>
            </a:prstGeom>
          </p:spPr>
        </p:pic>
        <p:pic>
          <p:nvPicPr>
            <p:cNvPr id="8" name="object 8">
              <a:extLst>
                <a:ext uri="{FF2B5EF4-FFF2-40B4-BE49-F238E27FC236}">
                  <a16:creationId xmlns:a16="http://schemas.microsoft.com/office/drawing/2014/main" id="{86608B74-4FE3-BF64-C25B-A00B657B34E6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82845" y="6384603"/>
              <a:ext cx="105016" cy="105016"/>
            </a:xfrm>
            <a:prstGeom prst="rect">
              <a:avLst/>
            </a:prstGeom>
          </p:spPr>
        </p:pic>
        <p:pic>
          <p:nvPicPr>
            <p:cNvPr id="9" name="object 9">
              <a:extLst>
                <a:ext uri="{FF2B5EF4-FFF2-40B4-BE49-F238E27FC236}">
                  <a16:creationId xmlns:a16="http://schemas.microsoft.com/office/drawing/2014/main" id="{A2023666-A704-EA39-D7ED-1C7B522FCDD6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82845" y="6814215"/>
              <a:ext cx="105016" cy="105016"/>
            </a:xfrm>
            <a:prstGeom prst="rect">
              <a:avLst/>
            </a:prstGeom>
          </p:spPr>
        </p:pic>
        <p:pic>
          <p:nvPicPr>
            <p:cNvPr id="10" name="object 10">
              <a:extLst>
                <a:ext uri="{FF2B5EF4-FFF2-40B4-BE49-F238E27FC236}">
                  <a16:creationId xmlns:a16="http://schemas.microsoft.com/office/drawing/2014/main" id="{E43A9C54-0130-12FE-6C57-9CDDA5803749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82845" y="7243828"/>
              <a:ext cx="105016" cy="105016"/>
            </a:xfrm>
            <a:prstGeom prst="rect">
              <a:avLst/>
            </a:prstGeom>
          </p:spPr>
        </p:pic>
        <p:pic>
          <p:nvPicPr>
            <p:cNvPr id="11" name="object 11">
              <a:extLst>
                <a:ext uri="{FF2B5EF4-FFF2-40B4-BE49-F238E27FC236}">
                  <a16:creationId xmlns:a16="http://schemas.microsoft.com/office/drawing/2014/main" id="{59FBAEA0-4BF9-3A56-451A-482C0EB60FCB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82845" y="8103053"/>
              <a:ext cx="105016" cy="105016"/>
            </a:xfrm>
            <a:prstGeom prst="rect">
              <a:avLst/>
            </a:prstGeom>
          </p:spPr>
        </p:pic>
      </p:grpSp>
      <p:sp>
        <p:nvSpPr>
          <p:cNvPr id="12" name="object 12" descr="$PPTXTitle">
            <a:extLst>
              <a:ext uri="{FF2B5EF4-FFF2-40B4-BE49-F238E27FC236}">
                <a16:creationId xmlns:a16="http://schemas.microsoft.com/office/drawing/2014/main" id="{FABC7CD5-CCA5-5F9C-55FE-D8E067EA40C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65575" y="73419"/>
            <a:ext cx="17722425" cy="1551066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en-IN" sz="5000" b="1" spc="-1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Implementation Flow</a:t>
            </a:r>
            <a:br>
              <a:rPr lang="en-IN" sz="5000" b="1" spc="-1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r>
              <a:rPr lang="en-IN" sz="5000" b="1" spc="-1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Normal Verilog Code + Verilog Testbench </a:t>
            </a:r>
            <a:endParaRPr sz="5000" b="1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pic>
        <p:nvPicPr>
          <p:cNvPr id="13" name="object 13">
            <a:extLst>
              <a:ext uri="{FF2B5EF4-FFF2-40B4-BE49-F238E27FC236}">
                <a16:creationId xmlns:a16="http://schemas.microsoft.com/office/drawing/2014/main" id="{756B187A-BFC4-D01B-0FDB-92EA5B896714}"/>
              </a:ext>
            </a:extLst>
          </p:cNvPr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882845" y="1658864"/>
            <a:ext cx="105016" cy="105016"/>
          </a:xfrm>
          <a:prstGeom prst="rect">
            <a:avLst/>
          </a:prstGeom>
        </p:spPr>
      </p:pic>
      <p:pic>
        <p:nvPicPr>
          <p:cNvPr id="14" name="object 14">
            <a:extLst>
              <a:ext uri="{FF2B5EF4-FFF2-40B4-BE49-F238E27FC236}">
                <a16:creationId xmlns:a16="http://schemas.microsoft.com/office/drawing/2014/main" id="{3F9F94F1-B654-1A4F-E718-7E6D1BF8BDD1}"/>
              </a:ext>
            </a:extLst>
          </p:cNvPr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882845" y="2088476"/>
            <a:ext cx="105016" cy="105016"/>
          </a:xfrm>
          <a:prstGeom prst="rect">
            <a:avLst/>
          </a:prstGeom>
        </p:spPr>
      </p:pic>
      <p:pic>
        <p:nvPicPr>
          <p:cNvPr id="15" name="object 15">
            <a:extLst>
              <a:ext uri="{FF2B5EF4-FFF2-40B4-BE49-F238E27FC236}">
                <a16:creationId xmlns:a16="http://schemas.microsoft.com/office/drawing/2014/main" id="{CD0BE651-8372-CFC2-04E9-34157DFF2A4C}"/>
              </a:ext>
            </a:extLst>
          </p:cNvPr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882845" y="2518089"/>
            <a:ext cx="105016" cy="105016"/>
          </a:xfrm>
          <a:prstGeom prst="rect">
            <a:avLst/>
          </a:prstGeom>
        </p:spPr>
      </p:pic>
      <p:pic>
        <p:nvPicPr>
          <p:cNvPr id="16" name="object 16">
            <a:extLst>
              <a:ext uri="{FF2B5EF4-FFF2-40B4-BE49-F238E27FC236}">
                <a16:creationId xmlns:a16="http://schemas.microsoft.com/office/drawing/2014/main" id="{834C3059-725B-CA42-1E29-1602B8000E8C}"/>
              </a:ext>
            </a:extLst>
          </p:cNvPr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882845" y="2947702"/>
            <a:ext cx="105016" cy="105016"/>
          </a:xfrm>
          <a:prstGeom prst="rect">
            <a:avLst/>
          </a:prstGeom>
        </p:spPr>
      </p:pic>
      <p:pic>
        <p:nvPicPr>
          <p:cNvPr id="17" name="object 17">
            <a:extLst>
              <a:ext uri="{FF2B5EF4-FFF2-40B4-BE49-F238E27FC236}">
                <a16:creationId xmlns:a16="http://schemas.microsoft.com/office/drawing/2014/main" id="{78707F13-33DA-777F-EDE1-59DCB2EC4F03}"/>
              </a:ext>
            </a:extLst>
          </p:cNvPr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882845" y="3377314"/>
            <a:ext cx="105016" cy="105016"/>
          </a:xfrm>
          <a:prstGeom prst="rect">
            <a:avLst/>
          </a:prstGeom>
        </p:spPr>
      </p:pic>
      <p:grpSp>
        <p:nvGrpSpPr>
          <p:cNvPr id="19" name="object 19">
            <a:extLst>
              <a:ext uri="{FF2B5EF4-FFF2-40B4-BE49-F238E27FC236}">
                <a16:creationId xmlns:a16="http://schemas.microsoft.com/office/drawing/2014/main" id="{884A5958-7B70-1400-2229-DAF57978E3AF}"/>
              </a:ext>
            </a:extLst>
          </p:cNvPr>
          <p:cNvGrpSpPr/>
          <p:nvPr/>
        </p:nvGrpSpPr>
        <p:grpSpPr>
          <a:xfrm>
            <a:off x="882845" y="8532665"/>
            <a:ext cx="105410" cy="534670"/>
            <a:chOff x="882845" y="8532665"/>
            <a:chExt cx="105410" cy="534670"/>
          </a:xfrm>
        </p:grpSpPr>
        <p:pic>
          <p:nvPicPr>
            <p:cNvPr id="20" name="object 20">
              <a:extLst>
                <a:ext uri="{FF2B5EF4-FFF2-40B4-BE49-F238E27FC236}">
                  <a16:creationId xmlns:a16="http://schemas.microsoft.com/office/drawing/2014/main" id="{45A36505-658F-1A7F-DC04-92DBE5A6063A}"/>
                </a:ext>
              </a:extLst>
            </p:cNvPr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882845" y="8532665"/>
              <a:ext cx="105016" cy="105016"/>
            </a:xfrm>
            <a:prstGeom prst="rect">
              <a:avLst/>
            </a:prstGeom>
          </p:spPr>
        </p:pic>
        <p:pic>
          <p:nvPicPr>
            <p:cNvPr id="21" name="object 21">
              <a:extLst>
                <a:ext uri="{FF2B5EF4-FFF2-40B4-BE49-F238E27FC236}">
                  <a16:creationId xmlns:a16="http://schemas.microsoft.com/office/drawing/2014/main" id="{3D59DBF3-60E9-8970-8602-55097B63047C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82845" y="8962278"/>
              <a:ext cx="105016" cy="105016"/>
            </a:xfrm>
            <a:prstGeom prst="rect">
              <a:avLst/>
            </a:prstGeom>
          </p:spPr>
        </p:pic>
      </p:grpSp>
      <p:sp>
        <p:nvSpPr>
          <p:cNvPr id="23" name="object 23">
            <a:extLst>
              <a:ext uri="{FF2B5EF4-FFF2-40B4-BE49-F238E27FC236}">
                <a16:creationId xmlns:a16="http://schemas.microsoft.com/office/drawing/2014/main" id="{C71B105B-C0D7-808B-A0A3-6CEE426E8521}"/>
              </a:ext>
            </a:extLst>
          </p:cNvPr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44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5"/>
              </a:spcBef>
            </a:pPr>
            <a:r>
              <a:rPr spc="180" dirty="0"/>
              <a:t>PAGE</a:t>
            </a:r>
            <a:r>
              <a:rPr spc="190" dirty="0"/>
              <a:t> </a:t>
            </a:r>
            <a:r>
              <a:rPr spc="50" dirty="0"/>
              <a:t>3</a:t>
            </a:r>
          </a:p>
        </p:txBody>
      </p:sp>
      <p:sp>
        <p:nvSpPr>
          <p:cNvPr id="24" name="object 24">
            <a:extLst>
              <a:ext uri="{FF2B5EF4-FFF2-40B4-BE49-F238E27FC236}">
                <a16:creationId xmlns:a16="http://schemas.microsoft.com/office/drawing/2014/main" id="{122CC9A3-4622-4106-8FBF-D21F6638526E}"/>
              </a:ext>
            </a:extLst>
          </p:cNvPr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44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5"/>
              </a:spcBef>
            </a:pPr>
            <a:r>
              <a:rPr spc="50" dirty="0"/>
              <a:t>SILICON</a:t>
            </a:r>
            <a:r>
              <a:rPr spc="180" dirty="0"/>
              <a:t> </a:t>
            </a:r>
            <a:r>
              <a:rPr spc="105" dirty="0"/>
              <a:t>SYNDICATE</a:t>
            </a:r>
          </a:p>
        </p:txBody>
      </p:sp>
      <p:sp>
        <p:nvSpPr>
          <p:cNvPr id="25" name="object 25">
            <a:extLst>
              <a:ext uri="{FF2B5EF4-FFF2-40B4-BE49-F238E27FC236}">
                <a16:creationId xmlns:a16="http://schemas.microsoft.com/office/drawing/2014/main" id="{E9673584-3C26-7B23-4798-02B7CA1A675C}"/>
              </a:ext>
            </a:extLst>
          </p:cNvPr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44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5"/>
              </a:spcBef>
            </a:pPr>
            <a:r>
              <a:rPr dirty="0"/>
              <a:t>VLSI</a:t>
            </a:r>
            <a:r>
              <a:rPr spc="355" dirty="0"/>
              <a:t> </a:t>
            </a:r>
            <a:r>
              <a:rPr spc="114" dirty="0"/>
              <a:t>DOMAIN</a:t>
            </a:r>
          </a:p>
        </p:txBody>
      </p:sp>
      <p:pic>
        <p:nvPicPr>
          <p:cNvPr id="27" name="Picture 26">
            <a:extLst>
              <a:ext uri="{FF2B5EF4-FFF2-40B4-BE49-F238E27FC236}">
                <a16:creationId xmlns:a16="http://schemas.microsoft.com/office/drawing/2014/main" id="{759D2460-8466-2458-B0D9-5AD213AA3922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864" b="4864"/>
          <a:stretch/>
        </p:blipFill>
        <p:spPr>
          <a:xfrm>
            <a:off x="567217" y="1666963"/>
            <a:ext cx="16839581" cy="85508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1436623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F3CE2F-DE72-6F81-EA08-6BA6990337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>
            <a:extLst>
              <a:ext uri="{FF2B5EF4-FFF2-40B4-BE49-F238E27FC236}">
                <a16:creationId xmlns:a16="http://schemas.microsoft.com/office/drawing/2014/main" id="{C21B1AF3-DCB2-C472-FE90-CB7D064A15D3}"/>
              </a:ext>
            </a:extLst>
          </p:cNvPr>
          <p:cNvGrpSpPr/>
          <p:nvPr/>
        </p:nvGrpSpPr>
        <p:grpSpPr>
          <a:xfrm>
            <a:off x="0" y="3752228"/>
            <a:ext cx="18288000" cy="6534784"/>
            <a:chOff x="0" y="3752228"/>
            <a:chExt cx="18288000" cy="6534784"/>
          </a:xfrm>
        </p:grpSpPr>
        <p:sp>
          <p:nvSpPr>
            <p:cNvPr id="3" name="object 3">
              <a:extLst>
                <a:ext uri="{FF2B5EF4-FFF2-40B4-BE49-F238E27FC236}">
                  <a16:creationId xmlns:a16="http://schemas.microsoft.com/office/drawing/2014/main" id="{7223DFAB-1940-8638-225A-A3401AED4988}"/>
                </a:ext>
              </a:extLst>
            </p:cNvPr>
            <p:cNvSpPr/>
            <p:nvPr/>
          </p:nvSpPr>
          <p:spPr>
            <a:xfrm>
              <a:off x="0" y="3752239"/>
              <a:ext cx="18288000" cy="6534784"/>
            </a:xfrm>
            <a:custGeom>
              <a:avLst/>
              <a:gdLst/>
              <a:ahLst/>
              <a:cxnLst/>
              <a:rect l="l" t="t" r="r" b="b"/>
              <a:pathLst>
                <a:path w="18288000" h="6534784">
                  <a:moveTo>
                    <a:pt x="873848" y="5710567"/>
                  </a:moveTo>
                  <a:lnTo>
                    <a:pt x="0" y="5710567"/>
                  </a:lnTo>
                  <a:lnTo>
                    <a:pt x="0" y="6534772"/>
                  </a:lnTo>
                  <a:lnTo>
                    <a:pt x="873848" y="6534772"/>
                  </a:lnTo>
                  <a:lnTo>
                    <a:pt x="873848" y="5710567"/>
                  </a:lnTo>
                  <a:close/>
                </a:path>
                <a:path w="18288000" h="6534784">
                  <a:moveTo>
                    <a:pt x="18285587" y="0"/>
                  </a:moveTo>
                  <a:lnTo>
                    <a:pt x="292" y="0"/>
                  </a:lnTo>
                  <a:lnTo>
                    <a:pt x="292" y="5692140"/>
                  </a:lnTo>
                  <a:lnTo>
                    <a:pt x="18285587" y="5692140"/>
                  </a:lnTo>
                  <a:lnTo>
                    <a:pt x="18285587" y="0"/>
                  </a:lnTo>
                  <a:close/>
                </a:path>
                <a:path w="18288000" h="6534784">
                  <a:moveTo>
                    <a:pt x="18287988" y="5692191"/>
                  </a:moveTo>
                  <a:lnTo>
                    <a:pt x="17411688" y="5692191"/>
                  </a:lnTo>
                  <a:lnTo>
                    <a:pt x="17411688" y="6534772"/>
                  </a:lnTo>
                  <a:lnTo>
                    <a:pt x="18287988" y="6534772"/>
                  </a:lnTo>
                  <a:lnTo>
                    <a:pt x="18287988" y="5692191"/>
                  </a:lnTo>
                  <a:close/>
                </a:path>
              </a:pathLst>
            </a:custGeom>
            <a:solidFill>
              <a:srgbClr val="00C3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" name="object 4">
              <a:extLst>
                <a:ext uri="{FF2B5EF4-FFF2-40B4-BE49-F238E27FC236}">
                  <a16:creationId xmlns:a16="http://schemas.microsoft.com/office/drawing/2014/main" id="{0C0641C5-EEC8-05E9-A9B7-F0233E1238F0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82845" y="4666152"/>
              <a:ext cx="105016" cy="105016"/>
            </a:xfrm>
            <a:prstGeom prst="rect">
              <a:avLst/>
            </a:prstGeom>
          </p:spPr>
        </p:pic>
        <p:pic>
          <p:nvPicPr>
            <p:cNvPr id="5" name="object 5">
              <a:extLst>
                <a:ext uri="{FF2B5EF4-FFF2-40B4-BE49-F238E27FC236}">
                  <a16:creationId xmlns:a16="http://schemas.microsoft.com/office/drawing/2014/main" id="{194CD4FA-D864-5ECD-8124-8F6B8297DB1E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82845" y="5095765"/>
              <a:ext cx="105016" cy="105016"/>
            </a:xfrm>
            <a:prstGeom prst="rect">
              <a:avLst/>
            </a:prstGeom>
          </p:spPr>
        </p:pic>
        <p:pic>
          <p:nvPicPr>
            <p:cNvPr id="6" name="object 6">
              <a:extLst>
                <a:ext uri="{FF2B5EF4-FFF2-40B4-BE49-F238E27FC236}">
                  <a16:creationId xmlns:a16="http://schemas.microsoft.com/office/drawing/2014/main" id="{58056643-592D-C48E-BE3C-84C0C8FC94C2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82845" y="5525378"/>
              <a:ext cx="105016" cy="105016"/>
            </a:xfrm>
            <a:prstGeom prst="rect">
              <a:avLst/>
            </a:prstGeom>
          </p:spPr>
        </p:pic>
        <p:pic>
          <p:nvPicPr>
            <p:cNvPr id="7" name="object 7">
              <a:extLst>
                <a:ext uri="{FF2B5EF4-FFF2-40B4-BE49-F238E27FC236}">
                  <a16:creationId xmlns:a16="http://schemas.microsoft.com/office/drawing/2014/main" id="{9C6BE842-36A1-C619-A1F7-22B73F4ABAEA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82845" y="5954990"/>
              <a:ext cx="105016" cy="105016"/>
            </a:xfrm>
            <a:prstGeom prst="rect">
              <a:avLst/>
            </a:prstGeom>
          </p:spPr>
        </p:pic>
        <p:pic>
          <p:nvPicPr>
            <p:cNvPr id="8" name="object 8">
              <a:extLst>
                <a:ext uri="{FF2B5EF4-FFF2-40B4-BE49-F238E27FC236}">
                  <a16:creationId xmlns:a16="http://schemas.microsoft.com/office/drawing/2014/main" id="{D05D6746-3DAC-6C90-DB0B-C2BE6D963809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82845" y="6384603"/>
              <a:ext cx="105016" cy="105016"/>
            </a:xfrm>
            <a:prstGeom prst="rect">
              <a:avLst/>
            </a:prstGeom>
          </p:spPr>
        </p:pic>
        <p:pic>
          <p:nvPicPr>
            <p:cNvPr id="9" name="object 9">
              <a:extLst>
                <a:ext uri="{FF2B5EF4-FFF2-40B4-BE49-F238E27FC236}">
                  <a16:creationId xmlns:a16="http://schemas.microsoft.com/office/drawing/2014/main" id="{220723DB-5AF2-F564-AB4D-DDAADCA0BCF9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82845" y="6814215"/>
              <a:ext cx="105016" cy="105016"/>
            </a:xfrm>
            <a:prstGeom prst="rect">
              <a:avLst/>
            </a:prstGeom>
          </p:spPr>
        </p:pic>
        <p:pic>
          <p:nvPicPr>
            <p:cNvPr id="10" name="object 10">
              <a:extLst>
                <a:ext uri="{FF2B5EF4-FFF2-40B4-BE49-F238E27FC236}">
                  <a16:creationId xmlns:a16="http://schemas.microsoft.com/office/drawing/2014/main" id="{E7CE19B3-8FC3-829E-D7E3-A9A57FBDAC55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82845" y="7243828"/>
              <a:ext cx="105016" cy="105016"/>
            </a:xfrm>
            <a:prstGeom prst="rect">
              <a:avLst/>
            </a:prstGeom>
          </p:spPr>
        </p:pic>
        <p:pic>
          <p:nvPicPr>
            <p:cNvPr id="11" name="object 11">
              <a:extLst>
                <a:ext uri="{FF2B5EF4-FFF2-40B4-BE49-F238E27FC236}">
                  <a16:creationId xmlns:a16="http://schemas.microsoft.com/office/drawing/2014/main" id="{A1D23326-EE11-421A-F123-78A2D31C1F4A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82845" y="8103053"/>
              <a:ext cx="105016" cy="105016"/>
            </a:xfrm>
            <a:prstGeom prst="rect">
              <a:avLst/>
            </a:prstGeom>
          </p:spPr>
        </p:pic>
      </p:grpSp>
      <p:sp>
        <p:nvSpPr>
          <p:cNvPr id="12" name="object 12" descr="$PPTXTitle">
            <a:extLst>
              <a:ext uri="{FF2B5EF4-FFF2-40B4-BE49-F238E27FC236}">
                <a16:creationId xmlns:a16="http://schemas.microsoft.com/office/drawing/2014/main" id="{C751BD89-C6F5-2549-844B-A713BE4D451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65574" y="209531"/>
            <a:ext cx="17722425" cy="78162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en-IN" sz="5000" b="1" spc="-1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Simulation Waveforms </a:t>
            </a:r>
            <a:endParaRPr sz="5000" b="1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pic>
        <p:nvPicPr>
          <p:cNvPr id="13" name="object 13">
            <a:extLst>
              <a:ext uri="{FF2B5EF4-FFF2-40B4-BE49-F238E27FC236}">
                <a16:creationId xmlns:a16="http://schemas.microsoft.com/office/drawing/2014/main" id="{443CEDE0-6A60-E45F-C777-84B954850DD8}"/>
              </a:ext>
            </a:extLst>
          </p:cNvPr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882845" y="1658864"/>
            <a:ext cx="105016" cy="105016"/>
          </a:xfrm>
          <a:prstGeom prst="rect">
            <a:avLst/>
          </a:prstGeom>
        </p:spPr>
      </p:pic>
      <p:pic>
        <p:nvPicPr>
          <p:cNvPr id="14" name="object 14">
            <a:extLst>
              <a:ext uri="{FF2B5EF4-FFF2-40B4-BE49-F238E27FC236}">
                <a16:creationId xmlns:a16="http://schemas.microsoft.com/office/drawing/2014/main" id="{3BF3FAD3-BBB9-DDB0-69E1-30D5410D8AF9}"/>
              </a:ext>
            </a:extLst>
          </p:cNvPr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882845" y="2088476"/>
            <a:ext cx="105016" cy="105016"/>
          </a:xfrm>
          <a:prstGeom prst="rect">
            <a:avLst/>
          </a:prstGeom>
        </p:spPr>
      </p:pic>
      <p:pic>
        <p:nvPicPr>
          <p:cNvPr id="15" name="object 15">
            <a:extLst>
              <a:ext uri="{FF2B5EF4-FFF2-40B4-BE49-F238E27FC236}">
                <a16:creationId xmlns:a16="http://schemas.microsoft.com/office/drawing/2014/main" id="{77427F90-FF93-9691-DEEA-5EF852868748}"/>
              </a:ext>
            </a:extLst>
          </p:cNvPr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882845" y="2518089"/>
            <a:ext cx="105016" cy="105016"/>
          </a:xfrm>
          <a:prstGeom prst="rect">
            <a:avLst/>
          </a:prstGeom>
        </p:spPr>
      </p:pic>
      <p:pic>
        <p:nvPicPr>
          <p:cNvPr id="16" name="object 16">
            <a:extLst>
              <a:ext uri="{FF2B5EF4-FFF2-40B4-BE49-F238E27FC236}">
                <a16:creationId xmlns:a16="http://schemas.microsoft.com/office/drawing/2014/main" id="{0C178601-B51F-684C-1880-4F67611C05F8}"/>
              </a:ext>
            </a:extLst>
          </p:cNvPr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882845" y="2947702"/>
            <a:ext cx="105016" cy="105016"/>
          </a:xfrm>
          <a:prstGeom prst="rect">
            <a:avLst/>
          </a:prstGeom>
        </p:spPr>
      </p:pic>
      <p:pic>
        <p:nvPicPr>
          <p:cNvPr id="17" name="object 17">
            <a:extLst>
              <a:ext uri="{FF2B5EF4-FFF2-40B4-BE49-F238E27FC236}">
                <a16:creationId xmlns:a16="http://schemas.microsoft.com/office/drawing/2014/main" id="{CE5A1A4D-8ED5-A43D-69A8-F3703DD441BC}"/>
              </a:ext>
            </a:extLst>
          </p:cNvPr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882845" y="3377314"/>
            <a:ext cx="105016" cy="105016"/>
          </a:xfrm>
          <a:prstGeom prst="rect">
            <a:avLst/>
          </a:prstGeom>
        </p:spPr>
      </p:pic>
      <p:grpSp>
        <p:nvGrpSpPr>
          <p:cNvPr id="19" name="object 19">
            <a:extLst>
              <a:ext uri="{FF2B5EF4-FFF2-40B4-BE49-F238E27FC236}">
                <a16:creationId xmlns:a16="http://schemas.microsoft.com/office/drawing/2014/main" id="{02099617-D85D-4228-69C6-E255C45BEF7B}"/>
              </a:ext>
            </a:extLst>
          </p:cNvPr>
          <p:cNvGrpSpPr/>
          <p:nvPr/>
        </p:nvGrpSpPr>
        <p:grpSpPr>
          <a:xfrm>
            <a:off x="882845" y="8532665"/>
            <a:ext cx="105410" cy="534670"/>
            <a:chOff x="882845" y="8532665"/>
            <a:chExt cx="105410" cy="534670"/>
          </a:xfrm>
        </p:grpSpPr>
        <p:pic>
          <p:nvPicPr>
            <p:cNvPr id="20" name="object 20">
              <a:extLst>
                <a:ext uri="{FF2B5EF4-FFF2-40B4-BE49-F238E27FC236}">
                  <a16:creationId xmlns:a16="http://schemas.microsoft.com/office/drawing/2014/main" id="{4407FD9E-F0D3-3746-8664-419EBCA8E446}"/>
                </a:ext>
              </a:extLst>
            </p:cNvPr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882845" y="8532665"/>
              <a:ext cx="105016" cy="105016"/>
            </a:xfrm>
            <a:prstGeom prst="rect">
              <a:avLst/>
            </a:prstGeom>
          </p:spPr>
        </p:pic>
        <p:pic>
          <p:nvPicPr>
            <p:cNvPr id="21" name="object 21">
              <a:extLst>
                <a:ext uri="{FF2B5EF4-FFF2-40B4-BE49-F238E27FC236}">
                  <a16:creationId xmlns:a16="http://schemas.microsoft.com/office/drawing/2014/main" id="{19BE7347-33B7-D116-FF40-FB8488BFCC39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82845" y="8962278"/>
              <a:ext cx="105016" cy="105016"/>
            </a:xfrm>
            <a:prstGeom prst="rect">
              <a:avLst/>
            </a:prstGeom>
          </p:spPr>
        </p:pic>
      </p:grpSp>
      <p:sp>
        <p:nvSpPr>
          <p:cNvPr id="23" name="object 23">
            <a:extLst>
              <a:ext uri="{FF2B5EF4-FFF2-40B4-BE49-F238E27FC236}">
                <a16:creationId xmlns:a16="http://schemas.microsoft.com/office/drawing/2014/main" id="{26BE5D8F-FDCB-4106-CB88-6EE7BAD84604}"/>
              </a:ext>
            </a:extLst>
          </p:cNvPr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44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5"/>
              </a:spcBef>
            </a:pPr>
            <a:r>
              <a:rPr spc="180" dirty="0"/>
              <a:t>PAGE</a:t>
            </a:r>
            <a:r>
              <a:rPr spc="190" dirty="0"/>
              <a:t> </a:t>
            </a:r>
            <a:r>
              <a:rPr spc="50" dirty="0"/>
              <a:t>3</a:t>
            </a:r>
          </a:p>
        </p:txBody>
      </p:sp>
      <p:sp>
        <p:nvSpPr>
          <p:cNvPr id="24" name="object 24">
            <a:extLst>
              <a:ext uri="{FF2B5EF4-FFF2-40B4-BE49-F238E27FC236}">
                <a16:creationId xmlns:a16="http://schemas.microsoft.com/office/drawing/2014/main" id="{563B00C9-F76C-AF8A-96EC-57B285677DC4}"/>
              </a:ext>
            </a:extLst>
          </p:cNvPr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44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5"/>
              </a:spcBef>
            </a:pPr>
            <a:r>
              <a:rPr spc="50" dirty="0"/>
              <a:t>SILICON</a:t>
            </a:r>
            <a:r>
              <a:rPr spc="180" dirty="0"/>
              <a:t> </a:t>
            </a:r>
            <a:r>
              <a:rPr spc="105" dirty="0"/>
              <a:t>SYNDICATE</a:t>
            </a:r>
          </a:p>
        </p:txBody>
      </p:sp>
      <p:sp>
        <p:nvSpPr>
          <p:cNvPr id="25" name="object 25">
            <a:extLst>
              <a:ext uri="{FF2B5EF4-FFF2-40B4-BE49-F238E27FC236}">
                <a16:creationId xmlns:a16="http://schemas.microsoft.com/office/drawing/2014/main" id="{20BFE7C5-1235-B094-C1F0-E07D0373265F}"/>
              </a:ext>
            </a:extLst>
          </p:cNvPr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44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5"/>
              </a:spcBef>
            </a:pPr>
            <a:r>
              <a:rPr dirty="0"/>
              <a:t>VLSI</a:t>
            </a:r>
            <a:r>
              <a:rPr spc="355" dirty="0"/>
              <a:t> </a:t>
            </a:r>
            <a:r>
              <a:rPr spc="114" dirty="0"/>
              <a:t>DOMAIN</a:t>
            </a:r>
          </a:p>
        </p:txBody>
      </p:sp>
      <p:pic>
        <p:nvPicPr>
          <p:cNvPr id="27" name="Picture 26">
            <a:extLst>
              <a:ext uri="{FF2B5EF4-FFF2-40B4-BE49-F238E27FC236}">
                <a16:creationId xmlns:a16="http://schemas.microsoft.com/office/drawing/2014/main" id="{88A79268-3E52-CEE6-1F14-30A9D94CED89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864" b="4864"/>
          <a:stretch/>
        </p:blipFill>
        <p:spPr>
          <a:xfrm>
            <a:off x="565573" y="1736145"/>
            <a:ext cx="16839581" cy="85508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5224268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1716873"/>
            <a:ext cx="18288000" cy="8570150"/>
            <a:chOff x="0" y="1716873"/>
            <a:chExt cx="18288000" cy="8570150"/>
          </a:xfrm>
        </p:grpSpPr>
        <p:sp>
          <p:nvSpPr>
            <p:cNvPr id="3" name="object 3"/>
            <p:cNvSpPr/>
            <p:nvPr/>
          </p:nvSpPr>
          <p:spPr>
            <a:xfrm>
              <a:off x="0" y="3752239"/>
              <a:ext cx="18288000" cy="6534784"/>
            </a:xfrm>
            <a:custGeom>
              <a:avLst/>
              <a:gdLst/>
              <a:ahLst/>
              <a:cxnLst/>
              <a:rect l="l" t="t" r="r" b="b"/>
              <a:pathLst>
                <a:path w="18288000" h="6534784">
                  <a:moveTo>
                    <a:pt x="873848" y="5710567"/>
                  </a:moveTo>
                  <a:lnTo>
                    <a:pt x="0" y="5710567"/>
                  </a:lnTo>
                  <a:lnTo>
                    <a:pt x="0" y="6534772"/>
                  </a:lnTo>
                  <a:lnTo>
                    <a:pt x="873848" y="6534772"/>
                  </a:lnTo>
                  <a:lnTo>
                    <a:pt x="873848" y="5710567"/>
                  </a:lnTo>
                  <a:close/>
                </a:path>
                <a:path w="18288000" h="6534784">
                  <a:moveTo>
                    <a:pt x="18285587" y="0"/>
                  </a:moveTo>
                  <a:lnTo>
                    <a:pt x="292" y="0"/>
                  </a:lnTo>
                  <a:lnTo>
                    <a:pt x="292" y="5692140"/>
                  </a:lnTo>
                  <a:lnTo>
                    <a:pt x="18285587" y="5692140"/>
                  </a:lnTo>
                  <a:lnTo>
                    <a:pt x="18285587" y="0"/>
                  </a:lnTo>
                  <a:close/>
                </a:path>
                <a:path w="18288000" h="6534784">
                  <a:moveTo>
                    <a:pt x="18287988" y="5692191"/>
                  </a:moveTo>
                  <a:lnTo>
                    <a:pt x="17411688" y="5692191"/>
                  </a:lnTo>
                  <a:lnTo>
                    <a:pt x="17411688" y="6534772"/>
                  </a:lnTo>
                  <a:lnTo>
                    <a:pt x="18287988" y="6534772"/>
                  </a:lnTo>
                  <a:lnTo>
                    <a:pt x="18287988" y="5692191"/>
                  </a:lnTo>
                  <a:close/>
                </a:path>
              </a:pathLst>
            </a:custGeom>
            <a:solidFill>
              <a:srgbClr val="00C3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1716873"/>
              <a:ext cx="18086123" cy="2076450"/>
            </a:xfrm>
            <a:prstGeom prst="rect">
              <a:avLst/>
            </a:prstGeom>
          </p:spPr>
        </p:pic>
      </p:grpSp>
      <p:sp>
        <p:nvSpPr>
          <p:cNvPr id="6" name="object 6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DESIGN.BUILD.DEPLOY</a:t>
            </a:r>
          </a:p>
        </p:txBody>
      </p:sp>
      <p:sp>
        <p:nvSpPr>
          <p:cNvPr id="9" name="object 9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44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5"/>
              </a:spcBef>
            </a:pPr>
            <a:r>
              <a:rPr spc="50" dirty="0"/>
              <a:t>SILICON</a:t>
            </a:r>
            <a:r>
              <a:rPr spc="180" dirty="0"/>
              <a:t> </a:t>
            </a:r>
            <a:r>
              <a:rPr spc="105" dirty="0"/>
              <a:t>SYNDICATE</a:t>
            </a:r>
          </a:p>
        </p:txBody>
      </p:sp>
      <p:sp>
        <p:nvSpPr>
          <p:cNvPr id="10" name="object 10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44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5"/>
              </a:spcBef>
            </a:pPr>
            <a:r>
              <a:rPr dirty="0"/>
              <a:t>VLSI</a:t>
            </a:r>
            <a:r>
              <a:rPr spc="355" dirty="0"/>
              <a:t> </a:t>
            </a:r>
            <a:r>
              <a:rPr spc="114" dirty="0"/>
              <a:t>DOMAIN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386</TotalTime>
  <Words>493</Words>
  <Application>Microsoft Office PowerPoint</Application>
  <PresentationFormat>Custom</PresentationFormat>
  <Paragraphs>72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4" baseType="lpstr">
      <vt:lpstr>Calibri</vt:lpstr>
      <vt:lpstr>quote-cjk-patch</vt:lpstr>
      <vt:lpstr>Tahoma</vt:lpstr>
      <vt:lpstr>Verdana</vt:lpstr>
      <vt:lpstr>Office Theme</vt:lpstr>
      <vt:lpstr>PowerPoint Presentation</vt:lpstr>
      <vt:lpstr>problem statement</vt:lpstr>
      <vt:lpstr>Our Approach to solve </vt:lpstr>
      <vt:lpstr>ARCHITECTURE FSM MODEL DESIGN </vt:lpstr>
      <vt:lpstr>ARCHITECTURE FSM MODEL DESIGN  for Normal Cycles along with Emergency Override </vt:lpstr>
      <vt:lpstr>Implementation Flow Normal Verilog Code + Verilog Testbench </vt:lpstr>
      <vt:lpstr>Implementation Flow Normal Verilog Code + Verilog Testbench </vt:lpstr>
      <vt:lpstr>Simulation Waveforms </vt:lpstr>
      <vt:lpstr>DESIGN.BUILD.DEPLOY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SYMBIOT_2026_VLSI_PPT.pptx</dc:title>
  <dc:creator>development model</dc:creator>
  <cp:keywords>DAHGQFvTVQg,BAGut311DNQ,0</cp:keywords>
  <cp:lastModifiedBy>Vikas M N</cp:lastModifiedBy>
  <cp:revision>2</cp:revision>
  <dcterms:created xsi:type="dcterms:W3CDTF">2026-04-24T22:34:32Z</dcterms:created>
  <dcterms:modified xsi:type="dcterms:W3CDTF">2026-04-25T05:01:20Z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2026-04-08T00:00:00Z</vt:filetime>
  </property>
  <property fmtid="{D5CDD505-2E9C-101B-9397-08002B2CF9AE}" pid="3" name="Creator">
    <vt:lpwstr>Canva</vt:lpwstr>
  </property>
  <property fmtid="{D5CDD505-2E9C-101B-9397-08002B2CF9AE}" pid="4" name="LastSaved">
    <vt:filetime>2026-04-24T00:00:00Z</vt:filetime>
  </property>
  <property fmtid="{D5CDD505-2E9C-101B-9397-08002B2CF9AE}" pid="5" name="Producer">
    <vt:lpwstr>Canva</vt:lpwstr>
  </property>
</Properties>
</file>